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0"/>
  </p:notesMasterIdLst>
  <p:sldIdLst>
    <p:sldId id="256" r:id="rId2"/>
    <p:sldId id="257" r:id="rId3"/>
    <p:sldId id="291" r:id="rId4"/>
    <p:sldId id="292" r:id="rId5"/>
    <p:sldId id="293" r:id="rId6"/>
    <p:sldId id="335" r:id="rId7"/>
    <p:sldId id="299" r:id="rId8"/>
    <p:sldId id="337" r:id="rId9"/>
    <p:sldId id="259" r:id="rId10"/>
    <p:sldId id="298" r:id="rId11"/>
    <p:sldId id="338" r:id="rId12"/>
    <p:sldId id="303" r:id="rId13"/>
    <p:sldId id="302" r:id="rId14"/>
    <p:sldId id="294" r:id="rId15"/>
    <p:sldId id="301" r:id="rId16"/>
    <p:sldId id="339" r:id="rId17"/>
    <p:sldId id="300" r:id="rId18"/>
    <p:sldId id="340" r:id="rId19"/>
    <p:sldId id="296" r:id="rId20"/>
    <p:sldId id="342" r:id="rId21"/>
    <p:sldId id="343" r:id="rId22"/>
    <p:sldId id="344" r:id="rId23"/>
    <p:sldId id="345" r:id="rId24"/>
    <p:sldId id="346" r:id="rId25"/>
    <p:sldId id="347" r:id="rId26"/>
    <p:sldId id="323" r:id="rId27"/>
    <p:sldId id="295" r:id="rId28"/>
    <p:sldId id="341" r:id="rId29"/>
    <p:sldId id="348" r:id="rId30"/>
    <p:sldId id="310" r:id="rId31"/>
    <p:sldId id="349" r:id="rId32"/>
    <p:sldId id="311" r:id="rId33"/>
    <p:sldId id="370" r:id="rId34"/>
    <p:sldId id="312" r:id="rId35"/>
    <p:sldId id="313" r:id="rId36"/>
    <p:sldId id="371" r:id="rId37"/>
    <p:sldId id="350" r:id="rId38"/>
    <p:sldId id="351" r:id="rId39"/>
    <p:sldId id="352" r:id="rId40"/>
    <p:sldId id="297" r:id="rId41"/>
    <p:sldId id="353" r:id="rId42"/>
    <p:sldId id="354" r:id="rId43"/>
    <p:sldId id="355" r:id="rId44"/>
    <p:sldId id="356" r:id="rId45"/>
    <p:sldId id="357" r:id="rId46"/>
    <p:sldId id="358" r:id="rId47"/>
    <p:sldId id="359" r:id="rId48"/>
    <p:sldId id="360" r:id="rId49"/>
    <p:sldId id="361" r:id="rId50"/>
    <p:sldId id="362" r:id="rId51"/>
    <p:sldId id="363" r:id="rId52"/>
    <p:sldId id="364" r:id="rId53"/>
    <p:sldId id="365" r:id="rId54"/>
    <p:sldId id="366" r:id="rId55"/>
    <p:sldId id="367" r:id="rId56"/>
    <p:sldId id="368" r:id="rId57"/>
    <p:sldId id="324" r:id="rId58"/>
    <p:sldId id="369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89"/>
  </p:normalViewPr>
  <p:slideViewPr>
    <p:cSldViewPr snapToGrid="0">
      <p:cViewPr varScale="1">
        <p:scale>
          <a:sx n="187" d="100"/>
          <a:sy n="187" d="100"/>
        </p:scale>
        <p:origin x="-1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046DD-21E9-6944-97BE-69D584D23981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CD430-25A7-964D-AB3D-FA3634722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1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CD430-25A7-964D-AB3D-FA36347228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82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CD430-25A7-964D-AB3D-FA36347228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09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8DBD-E400-6449-B7CA-457592F16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055ED-59E9-AF4A-85DC-7EAAECBAF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CFCDD-B04B-E840-90FD-F129B305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BD74-FFBD-5641-B9E8-E046665401FF}" type="datetime1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82C5F-5D75-A246-977F-50E00382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5806"/>
            <a:ext cx="4114800" cy="365125"/>
          </a:xfrm>
        </p:spPr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2943-E956-D34E-BBAB-43C7E48D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1178" y="6559931"/>
            <a:ext cx="2743200" cy="365125"/>
          </a:xfrm>
        </p:spPr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5F4AFB-D835-444B-9226-66B0FC9A5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412" y="23812"/>
            <a:ext cx="1231188" cy="116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7914-E0C2-D846-BF19-990B1244C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BAA45-ABA3-F949-A2F1-E2E0EA668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479" y="1368056"/>
            <a:ext cx="10914321" cy="4808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4FFC-EE8C-C047-895E-86085794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3634B-15BC-B54A-8579-0EE6DA234F24}" type="datetime1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14A1-99B9-D64E-AF4B-20682621D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5611"/>
            <a:ext cx="4114800" cy="302389"/>
          </a:xfrm>
        </p:spPr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4FFE7-4229-304D-8F3F-674651E2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6420" y="6482080"/>
            <a:ext cx="2743200" cy="365125"/>
          </a:xfrm>
        </p:spPr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8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F9E29-D991-CB40-AAA9-D9BF1B18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21AAD-ABD2-234E-9270-B654BB30C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27300-68EF-0E49-898F-00865F77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34DF3-860D-F748-83A8-9BEBE090439E}" type="datetime1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ED93A-665D-D741-806E-B7AAE8E8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9BACD-8B06-F043-8FEA-DA981874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3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FC4B-8828-FD4E-8E05-77471D20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8D6E3-1344-9243-A394-A3471547A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067" y="721604"/>
            <a:ext cx="9457983" cy="57893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DB810-7A83-294F-8A08-082444C9D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12216" y="1266940"/>
            <a:ext cx="2535715" cy="5238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9E9B4-4F83-F642-9DFE-9697A7EC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23" y="6581901"/>
            <a:ext cx="2743200" cy="246376"/>
          </a:xfrm>
        </p:spPr>
        <p:txBody>
          <a:bodyPr/>
          <a:lstStyle/>
          <a:p>
            <a:fld id="{8BA7B33D-285C-FC45-B08F-C8AF1046C8B9}" type="datetime1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56D57-87BC-CC41-942E-87D354108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1587" y="6581903"/>
            <a:ext cx="7409636" cy="246376"/>
          </a:xfrm>
        </p:spPr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33C0E-E1AC-0349-B1C0-0DFD16EB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0173" y="6581901"/>
            <a:ext cx="1257758" cy="246376"/>
          </a:xfrm>
        </p:spPr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9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41D1E-C2EE-4D43-A3CB-CDDB47B9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C39CE-6A8A-2545-ACAB-BB2B2383F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58D27-1C88-9D4C-A8B6-04E4D9C8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F41EF-78F0-6148-ACEF-FE3966FF5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F70A1-4887-FF40-8551-5271C91DD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65F625-79B9-7940-B397-734797F7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1436-5DE9-0B4D-95D9-F7FD066F27CD}" type="datetime1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79712-3AE3-1F4C-96F1-F94A01E2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277A49-623F-ED4F-A480-FD632694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1BA44-29BB-D44D-ACC9-E0DE4206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135E1E-096C-7745-9E12-621EADD4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07FB0-7626-AD42-80EB-31BE5CF3F90B}" type="datetime1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9DBBD-98D3-9747-A8A0-0125A1BC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B41AF-F23C-624B-BCD1-432C9068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2E4C7-398E-BC4D-B462-999C9D3A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63FA-EF1D-6C44-93FE-F64E972768F0}" type="datetime1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37CC1D-EA93-934C-80EA-45F1CC271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D078C-D957-684A-9771-F78E9D1E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05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5A5F-A724-6646-9A53-14D9505E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0ABBB-C912-9749-AA34-4054774C1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C772B-FB21-3D43-B412-59B8BCD8F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F952B-3458-BA40-80FE-9283B869C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2027C-2BD5-614C-9B93-038DB1498BB6}" type="datetime1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777A3-FD08-7B44-A48E-0E4FAB9C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47DD9-10B0-9143-B07E-77F243CF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4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2BA9-582C-6741-A090-4AD8AAC78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8B7A1-F65E-CC41-8C8D-D4E01A8BE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7FDEC-9814-354F-81B6-7B0DAC097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6A4E2-DD2D-F843-AB71-3B788C84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158C7-8B02-2F49-B5EE-2C2D1000C43D}" type="datetime1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9E8C-ABDE-0542-B6D9-DC8C9B1C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77E73-96C9-B342-B8A4-92AAEA1A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2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243F-7879-6045-A73E-1182B24C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FAAA2-8939-414D-A282-845C37CA9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3BFD-87B5-C944-928B-E702B0A8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1943-4A3D-6241-AB3C-7840C2A623CF}" type="datetime1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7A96B-1A12-594A-AD63-649ABB05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EF5F4-C158-1D4C-9BC4-15E9214C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2ACDC2-EDE2-6F42-89B0-97C074623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5E327-6D48-534D-8A70-E44DCB0A6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CAA63-B21F-8444-84AB-BA83A1293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25FE5-1966-4041-9FAB-EF470B99E1F9}" type="datetime1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DDC2F-3011-0B44-BD03-23022A8E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Robert Lee, 09/10/2026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B4201-428A-2149-9DEF-F1ED5048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435BC45-9DBE-3A4A-9F72-612908C604E8}"/>
              </a:ext>
            </a:extLst>
          </p:cNvPr>
          <p:cNvSpPr/>
          <p:nvPr/>
        </p:nvSpPr>
        <p:spPr>
          <a:xfrm>
            <a:off x="-7622" y="0"/>
            <a:ext cx="12192000" cy="627233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 prstMaterial="dkEdge"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F09B9-F956-CC45-B50A-4F8C345BE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5D78E-BDD4-D046-B671-B3EA18611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38913"/>
            <a:ext cx="2743200" cy="2814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5FB57-60C6-704A-8C1A-B95D0E0F353E}" type="datetime1">
              <a:rPr lang="en-US" smtClean="0"/>
              <a:t>8/26/26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BF553A-3549-9743-BF7A-F79D899D044F}"/>
              </a:ext>
            </a:extLst>
          </p:cNvPr>
          <p:cNvSpPr/>
          <p:nvPr/>
        </p:nvSpPr>
        <p:spPr>
          <a:xfrm>
            <a:off x="1" y="627233"/>
            <a:ext cx="12191999" cy="555788"/>
          </a:xfrm>
          <a:prstGeom prst="rect">
            <a:avLst/>
          </a:prstGeom>
          <a:solidFill>
            <a:schemeClr val="accent4"/>
          </a:solidFill>
          <a:scene3d>
            <a:camera prst="orthographicFront"/>
            <a:lightRig rig="chilly" dir="t"/>
          </a:scene3d>
          <a:sp3d prstMaterial="dkEdg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B3731B-1EE2-084B-95C2-E818EE1B48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81151" y="29722"/>
            <a:ext cx="1153299" cy="11532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5C0F3-8AEC-0E43-903A-1A8B728C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4" y="29722"/>
            <a:ext cx="10042949" cy="620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9273C-2A71-9B4B-A104-2F0E47248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17942"/>
            <a:ext cx="4114800" cy="3023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Robert Lee, 09/10/2026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8DAA7-A319-B74F-BDA8-778BF578B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02050" y="6538913"/>
            <a:ext cx="2662410" cy="2814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BF84D-2654-0E41-BA25-5899B97A3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7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C443-2560-95DC-0ADD-435E95B94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750" y="2155425"/>
            <a:ext cx="11182204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Increasing the Trigger and Selection Efficiency for Higgs to Diphoton Signal at the CMS Experiment Using Machine Learning Techniques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C2891-B073-D090-5F4F-AC13BE6CC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5100"/>
            <a:ext cx="9144000" cy="1655762"/>
          </a:xfrm>
        </p:spPr>
        <p:txBody>
          <a:bodyPr/>
          <a:lstStyle/>
          <a:p>
            <a:r>
              <a:rPr lang="en-US" dirty="0"/>
              <a:t>Robert Lee</a:t>
            </a:r>
          </a:p>
          <a:p>
            <a:r>
              <a:rPr lang="en-US" dirty="0"/>
              <a:t>September 10</a:t>
            </a:r>
            <a:r>
              <a:rPr lang="en-US" baseline="30000" dirty="0"/>
              <a:t>th</a:t>
            </a:r>
            <a:r>
              <a:rPr lang="en-US" dirty="0"/>
              <a:t>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950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2A1D3-F6B8-E883-7EFD-EF002DFA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62157-7B55-243D-1BB3-296BC11D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70" y="1193555"/>
            <a:ext cx="10914321" cy="4808907"/>
          </a:xfrm>
        </p:spPr>
        <p:txBody>
          <a:bodyPr/>
          <a:lstStyle/>
          <a:p>
            <a:r>
              <a:rPr lang="en-US" dirty="0"/>
              <a:t>The Standard Model and Higgs Boson</a:t>
            </a:r>
          </a:p>
          <a:p>
            <a:r>
              <a:rPr lang="en-US" dirty="0"/>
              <a:t>CMS Detector, Triggering, and Analysis</a:t>
            </a:r>
          </a:p>
          <a:p>
            <a:r>
              <a:rPr lang="en-US" dirty="0"/>
              <a:t>Boosted Decision Tree (BDT) Basics</a:t>
            </a:r>
          </a:p>
          <a:p>
            <a:r>
              <a:rPr lang="en-US" dirty="0"/>
              <a:t>Development of MVA-HLT</a:t>
            </a:r>
          </a:p>
          <a:p>
            <a:r>
              <a:rPr lang="en-US" dirty="0"/>
              <a:t>Development of Complementary Offline Analysis</a:t>
            </a:r>
          </a:p>
          <a:p>
            <a:r>
              <a:rPr lang="en-US" dirty="0"/>
              <a:t>Trigger Rates and Timing</a:t>
            </a:r>
          </a:p>
          <a:p>
            <a:r>
              <a:rPr lang="en-US" dirty="0"/>
              <a:t>Improvements to Signal Efficiency for Selected Samples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407AC-FC27-1231-71FC-5058E241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3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&#10;&#10;Description automatically generated">
            <a:extLst>
              <a:ext uri="{FF2B5EF4-FFF2-40B4-BE49-F238E27FC236}">
                <a16:creationId xmlns:a16="http://schemas.microsoft.com/office/drawing/2014/main" id="{20483FDC-84B1-B618-10E1-CD4FB7997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398" y="2481113"/>
            <a:ext cx="5217622" cy="3913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9C7589-5FFB-69F8-0501-FA138B8C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Standard Model of Particle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0D5C5-9AF6-B826-34FB-B537F5C2D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62" y="1191523"/>
            <a:ext cx="8147600" cy="566647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Standard Model describes fundamental particles and interactions.</a:t>
            </a:r>
          </a:p>
          <a:p>
            <a:pPr lvl="1"/>
            <a:r>
              <a:rPr lang="en-US" dirty="0"/>
              <a:t>3 fundamental forces (plus gravity): Electromagnetic, Strong, Weak </a:t>
            </a:r>
          </a:p>
          <a:p>
            <a:pPr lvl="1"/>
            <a:r>
              <a:rPr lang="en-US" dirty="0"/>
              <a:t>Quarks make up </a:t>
            </a:r>
            <a:r>
              <a:rPr lang="en-US" dirty="0">
                <a:solidFill>
                  <a:srgbClr val="FF0000"/>
                </a:solidFill>
              </a:rPr>
              <a:t>protons</a:t>
            </a:r>
            <a:r>
              <a:rPr lang="en-US" dirty="0"/>
              <a:t>, neutrons, and other                “hadrons” through strong force.</a:t>
            </a:r>
          </a:p>
          <a:p>
            <a:pPr lvl="1"/>
            <a:r>
              <a:rPr lang="en-US" dirty="0"/>
              <a:t>Quantum Electrodynamics describes interactions of         charged particles (quarks and leptons).</a:t>
            </a:r>
          </a:p>
          <a:p>
            <a:pPr lvl="1"/>
            <a:r>
              <a:rPr lang="en-US" dirty="0"/>
              <a:t>Leptons also interact with Weak force.</a:t>
            </a:r>
          </a:p>
          <a:p>
            <a:pPr lvl="1"/>
            <a:r>
              <a:rPr lang="en-US" dirty="0"/>
              <a:t>Gauge Bosons mediate forces.</a:t>
            </a:r>
          </a:p>
          <a:p>
            <a:endParaRPr lang="en-US" dirty="0"/>
          </a:p>
          <a:p>
            <a:r>
              <a:rPr lang="en-US" dirty="0"/>
              <a:t>Early formulation included strict symmetries for electroweak force.</a:t>
            </a:r>
          </a:p>
          <a:p>
            <a:pPr lvl="1"/>
            <a:r>
              <a:rPr lang="en-US" dirty="0"/>
              <a:t>Lead to incorrect predictions (W&amp;Z!).</a:t>
            </a:r>
          </a:p>
          <a:p>
            <a:pPr lvl="1"/>
            <a:r>
              <a:rPr lang="en-US" dirty="0"/>
              <a:t>Found to also violate parity and time reversal symmetry</a:t>
            </a:r>
          </a:p>
          <a:p>
            <a:pPr lvl="1"/>
            <a:r>
              <a:rPr lang="en-US" dirty="0"/>
              <a:t>Became crisis in the field – move on or fix?</a:t>
            </a:r>
          </a:p>
          <a:p>
            <a:pPr lvl="1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27BDB-18F6-72FC-6084-6662CBB3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73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67D9FA-C9D9-DB88-42C4-224A51098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113" y="3234266"/>
            <a:ext cx="5030507" cy="3623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969C00-6F2F-834E-D5AE-CDD537BC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/>
              <a:t>Brout</a:t>
            </a:r>
            <a:r>
              <a:rPr lang="en-US" dirty="0"/>
              <a:t>–Englert–Higgs (BEH)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E5774-A3A3-FE53-4876-2F72F14C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" y="1193555"/>
            <a:ext cx="12185289" cy="4808907"/>
          </a:xfrm>
        </p:spPr>
        <p:txBody>
          <a:bodyPr/>
          <a:lstStyle/>
          <a:p>
            <a:r>
              <a:rPr lang="en-US" dirty="0"/>
              <a:t>The Higgs field was first theorized in 1964.</a:t>
            </a:r>
          </a:p>
          <a:p>
            <a:pPr lvl="1"/>
            <a:r>
              <a:rPr lang="en-US" dirty="0"/>
              <a:t>A vital change to field theory – “sombrero” potential spontaneously breaks electroweak symmetry and predicts a (scalar) boson.</a:t>
            </a:r>
          </a:p>
          <a:p>
            <a:pPr lvl="1"/>
            <a:r>
              <a:rPr lang="en-US" dirty="0"/>
              <a:t>Also explained particle masses through the Yukawa coupling.</a:t>
            </a:r>
          </a:p>
          <a:p>
            <a:pPr lvl="1"/>
            <a:r>
              <a:rPr lang="en-US" dirty="0"/>
              <a:t>Existence of Higgs boson became major question in particle physics.</a:t>
            </a:r>
          </a:p>
          <a:p>
            <a:pPr lvl="1"/>
            <a:endParaRPr lang="en-US" dirty="0"/>
          </a:p>
          <a:p>
            <a:r>
              <a:rPr lang="en-US" dirty="0"/>
              <a:t>Detection was impossible for many years.</a:t>
            </a:r>
          </a:p>
          <a:p>
            <a:pPr lvl="1"/>
            <a:r>
              <a:rPr lang="en-US" dirty="0"/>
              <a:t>Until the LHC, accelerator energy was too low.</a:t>
            </a:r>
          </a:p>
          <a:p>
            <a:pPr lvl="1"/>
            <a:r>
              <a:rPr lang="en-US" dirty="0"/>
              <a:t>Process is very rare – need high rates and good detection.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2288D-88E4-519D-8AA8-1FEA63CA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05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CA262D4-4BA2-2922-CBE9-B447AA6CB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856" y="3748342"/>
            <a:ext cx="6830143" cy="31096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0C5A7C-3776-551A-E23C-5049C44B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Higgs Boson Production Modes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7336B7-A03E-AAF5-440D-0C6E7BE130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2" y="1193556"/>
                <a:ext cx="10914321" cy="534685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From the underlying field theories of interaction, Feynman diagrams can be constructed to describe the possible ways in which a Higgs Boson can be produced.</a:t>
                </a:r>
              </a:p>
              <a:p>
                <a:endParaRPr lang="en-US" dirty="0"/>
              </a:p>
              <a:p>
                <a:r>
                  <a:rPr lang="en-US" dirty="0"/>
                  <a:t>”Cross Sections” measure how likely different Higgs production modes are. The total Higgs XS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=54±2.6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pb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b="1" dirty="0"/>
                  <a:t>a</a:t>
                </a:r>
                <a:r>
                  <a:rPr lang="en-US" dirty="0"/>
                  <a:t>: </a:t>
                </a:r>
                <a:r>
                  <a:rPr lang="en-US" u="sng" dirty="0"/>
                  <a:t>Gluon Fusion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48.3 pb</a:t>
                </a:r>
              </a:p>
              <a:p>
                <a:pPr lvl="1"/>
                <a:r>
                  <a:rPr lang="en-US" b="1" dirty="0"/>
                  <a:t>b</a:t>
                </a:r>
                <a:r>
                  <a:rPr lang="en-US" dirty="0"/>
                  <a:t>: Vector Boson Fusion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3.8 pb </a:t>
                </a:r>
              </a:p>
              <a:p>
                <a:pPr lvl="1"/>
                <a:r>
                  <a:rPr lang="en-US" b="1" dirty="0"/>
                  <a:t>c</a:t>
                </a:r>
                <a:r>
                  <a:rPr lang="en-US" dirty="0"/>
                  <a:t>: VH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2.2 pb </a:t>
                </a:r>
              </a:p>
              <a:p>
                <a:pPr lvl="1"/>
                <a:r>
                  <a:rPr lang="en-US" b="1" dirty="0"/>
                  <a:t>d</a:t>
                </a:r>
                <a:r>
                  <a:rPr lang="en-US" dirty="0"/>
                  <a:t>: </a:t>
                </a:r>
                <a:r>
                  <a:rPr lang="en-US" dirty="0" err="1"/>
                  <a:t>tt</a:t>
                </a:r>
                <a:r>
                  <a:rPr lang="en-US" dirty="0"/>
                  <a:t>(bb)H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1.0 pb </a:t>
                </a:r>
              </a:p>
              <a:p>
                <a:pPr lvl="1"/>
                <a:r>
                  <a:rPr lang="en-US" b="1" dirty="0" err="1"/>
                  <a:t>e</a:t>
                </a:r>
                <a:r>
                  <a:rPr lang="en-US" dirty="0" err="1"/>
                  <a:t>&amp;</a:t>
                </a:r>
                <a:r>
                  <a:rPr lang="en-US" b="1" dirty="0" err="1"/>
                  <a:t>f</a:t>
                </a:r>
                <a:r>
                  <a:rPr lang="en-US" dirty="0"/>
                  <a:t>: </a:t>
                </a:r>
                <a:r>
                  <a:rPr lang="en-US" dirty="0" err="1"/>
                  <a:t>tH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0.1 pb 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7336B7-A03E-AAF5-440D-0C6E7BE130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2" y="1193556"/>
                <a:ext cx="10914321" cy="5346851"/>
              </a:xfrm>
              <a:blipFill>
                <a:blip r:embed="rId3"/>
                <a:stretch>
                  <a:fillRect l="-1045" t="-2133" r="-1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DC064-EDAE-476D-9680-5C5D2D9D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9FEBE8-0A19-D3C3-59D3-698E1A44D763}"/>
              </a:ext>
            </a:extLst>
          </p:cNvPr>
          <p:cNvSpPr/>
          <p:nvPr/>
        </p:nvSpPr>
        <p:spPr>
          <a:xfrm>
            <a:off x="5472440" y="4013588"/>
            <a:ext cx="2191767" cy="13586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37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BC10E-1F58-381E-8A00-5944E573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42496B-7714-3762-CF66-077E39B39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037" y="3534946"/>
            <a:ext cx="4813979" cy="33230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91A2A8-0E62-A907-CACB-4C9048B66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Higgs Boson Decay Modes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2466EF-C5D8-B995-D921-91A1C92EAD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1" y="1193556"/>
                <a:ext cx="12192909" cy="534685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Regardless of how it is produced, a Higgs boson will decay into one of several allowed final states.</a:t>
                </a:r>
              </a:p>
              <a:p>
                <a:endParaRPr lang="en-US" dirty="0"/>
              </a:p>
              <a:p>
                <a:r>
                  <a:rPr lang="en-US" dirty="0"/>
                  <a:t>As with production modes, all decays are not equally likely – branching fractions for the Higgs into each mode can be calculated</a:t>
                </a:r>
              </a:p>
              <a:p>
                <a:pPr lvl="1"/>
                <a:r>
                  <a:rPr lang="en-US" b="1" dirty="0"/>
                  <a:t>g: </a:t>
                </a:r>
                <a:r>
                  <a:rPr lang="en-US" dirty="0"/>
                  <a:t>WW (~22%) and ZZ (~2.7%)</a:t>
                </a:r>
              </a:p>
              <a:p>
                <a:pPr lvl="1"/>
                <a:r>
                  <a:rPr lang="en-US" b="1" dirty="0"/>
                  <a:t>h: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dirty="0"/>
                  <a:t> (~58%), gg (~8%),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𝜏𝜏</m:t>
                    </m:r>
                  </m:oMath>
                </a14:m>
                <a:r>
                  <a:rPr lang="en-US" dirty="0"/>
                  <a:t> (~6%) … </a:t>
                </a:r>
              </a:p>
              <a:p>
                <a:pPr lvl="1"/>
                <a:r>
                  <a:rPr lang="en-US" b="1" dirty="0"/>
                  <a:t>i &amp; j: </a:t>
                </a:r>
                <a14:m>
                  <m:oMath xmlns:m="http://schemas.openxmlformats.org/officeDocument/2006/math">
                    <m:r>
                      <a:rPr lang="en-US" b="0" i="1" u="sng" smtClean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u="sng" dirty="0"/>
                  <a:t> (~0.2%)</a:t>
                </a:r>
                <a:r>
                  <a:rPr lang="en-US" dirty="0"/>
                  <a:t>, 𝑍𝛾 (~0.2%)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2466EF-C5D8-B995-D921-91A1C92EA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1" y="1193556"/>
                <a:ext cx="12192909" cy="5346851"/>
              </a:xfrm>
              <a:blipFill>
                <a:blip r:embed="rId3"/>
                <a:stretch>
                  <a:fillRect l="-937" t="-2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3010C-6457-A797-3C5B-0166E514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D339A0-D491-DFF9-5B58-58565E06C34A}"/>
              </a:ext>
            </a:extLst>
          </p:cNvPr>
          <p:cNvSpPr/>
          <p:nvPr/>
        </p:nvSpPr>
        <p:spPr>
          <a:xfrm>
            <a:off x="7371036" y="5151353"/>
            <a:ext cx="4813980" cy="1706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E8C4D66-03E2-270B-9881-4E5863690C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10" y="4542866"/>
                <a:ext cx="7364325" cy="18230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While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has a relatively low BF, it provides a clean and high-resolution channel with which to measure the Higgs.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E8C4D66-03E2-270B-9881-4E5863690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0" y="4542866"/>
                <a:ext cx="7364325" cy="1823037"/>
              </a:xfrm>
              <a:prstGeom prst="rect">
                <a:avLst/>
              </a:prstGeom>
              <a:blipFill>
                <a:blip r:embed="rId4"/>
                <a:stretch>
                  <a:fillRect l="-1549" b="-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655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9953-0E6C-E06D-5FEF-16A019E85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EA6F3-CF21-18D9-5F38-096FBE14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DiHiggs</a:t>
            </a:r>
            <a:r>
              <a:rPr lang="en-US" dirty="0"/>
              <a:t> Production Modes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E46BCD-B269-C2F0-F89C-CC568972CD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1" y="1193555"/>
                <a:ext cx="12185289" cy="383047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There are several modes by which two Higgs bosons can be simultaneously produced.</a:t>
                </a:r>
              </a:p>
              <a:p>
                <a:endParaRPr lang="en-US" dirty="0"/>
              </a:p>
              <a:p>
                <a:r>
                  <a:rPr lang="en-US" dirty="0"/>
                  <a:t>The coupling constants at each vertex are key parameters that must be measured to refine SM and search for Beyond Standard Model (BSM) physics.</a:t>
                </a:r>
              </a:p>
              <a:p>
                <a:endParaRPr lang="en-US" dirty="0"/>
              </a:p>
              <a:p>
                <a:r>
                  <a:rPr lang="en-US" dirty="0" err="1"/>
                  <a:t>DiHiggs</a:t>
                </a:r>
                <a:r>
                  <a:rPr lang="en-US" dirty="0"/>
                  <a:t> production occurs at very low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=54</m:t>
                    </m:r>
                  </m:oMath>
                </a14:m>
                <a:r>
                  <a:rPr lang="en-US" dirty="0"/>
                  <a:t> pb,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lang="en-US" dirty="0"/>
                  <a:t> fb) and has not yet been detected at the LHC. </a:t>
                </a:r>
                <a:r>
                  <a:rPr lang="en-US" dirty="0" err="1"/>
                  <a:t>DiHiggs</a:t>
                </a:r>
                <a:r>
                  <a:rPr lang="en-US" dirty="0"/>
                  <a:t> searches are a major part of Run 3.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E46BCD-B269-C2F0-F89C-CC568972CD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1" y="1193555"/>
                <a:ext cx="12185289" cy="3830477"/>
              </a:xfrm>
              <a:blipFill>
                <a:blip r:embed="rId2"/>
                <a:stretch>
                  <a:fillRect l="-937" t="-2980" r="-1145" b="-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4069C-9BBF-C386-7349-DDE20798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E963F8-7B25-4F98-983E-BACFB04FB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115730"/>
            <a:ext cx="11954933" cy="174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3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C7589-5FFB-69F8-0501-FA138B8C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Higgs Discovery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0D5C5-9AF6-B826-34FB-B537F5C2DD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4" y="1193555"/>
                <a:ext cx="9649148" cy="498740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LHC began high-energy proton-proton collisions in 2010. </a:t>
                </a:r>
              </a:p>
              <a:p>
                <a:pPr lvl="1"/>
                <a:r>
                  <a:rPr lang="en-US" dirty="0"/>
                  <a:t>Initial center-of-mass energy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=7 </m:t>
                    </m:r>
                  </m:oMath>
                </a14:m>
                <a:r>
                  <a:rPr lang="en-US" b="0" dirty="0"/>
                  <a:t>TeV.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Initial discovery occurred in 2012.</a:t>
                </a:r>
              </a:p>
              <a:p>
                <a:pPr lvl="1"/>
                <a:r>
                  <a:rPr lang="en-US" dirty="0"/>
                  <a:t>Found at mass of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125 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GeV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and WW/ZZ decays were vital.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Since then,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lang="en-US" dirty="0"/>
                  <a:t> and luminosity have increased.</a:t>
                </a:r>
              </a:p>
              <a:p>
                <a:pPr lvl="1"/>
                <a:r>
                  <a:rPr lang="en-US" dirty="0"/>
                  <a:t>Run 2 saw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lang="en-US" dirty="0"/>
                  <a:t> = 13 </a:t>
                </a:r>
                <a:r>
                  <a:rPr lang="en-US" dirty="0" err="1"/>
                  <a:t>TeV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Run 3(Current) brings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lang="en-US" dirty="0"/>
                  <a:t> = 13.6 </a:t>
                </a:r>
                <a:r>
                  <a:rPr lang="en-US" dirty="0" err="1"/>
                  <a:t>TeV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With each increase, can produce more Higgs.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0D5C5-9AF6-B826-34FB-B537F5C2D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4" y="1193555"/>
                <a:ext cx="9649148" cy="4987402"/>
              </a:xfrm>
              <a:blipFill>
                <a:blip r:embed="rId3"/>
                <a:stretch>
                  <a:fillRect l="-1183" t="-2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34B7D-9743-0739-FF1F-C3EBE939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25691"/>
            <a:ext cx="4114800" cy="302389"/>
          </a:xfrm>
        </p:spPr>
        <p:txBody>
          <a:bodyPr/>
          <a:lstStyle/>
          <a:p>
            <a:r>
              <a:rPr lang="en-US"/>
              <a:t>Robert Lee,  31/03/2022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F207C-6C8F-99DD-03B4-157CB2A5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B2FD-AE86-CC4C-AD3D-1E8B612CB11F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A6C3F7-0DD4-5920-B24A-BC5BEFDAA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665" y="4322803"/>
            <a:ext cx="3618855" cy="2483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66165A-6479-877D-A136-03D21B895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9141" y="1197823"/>
            <a:ext cx="3340479" cy="30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67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C7589-5FFB-69F8-0501-FA138B8C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CMS Detector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0D5C5-9AF6-B826-34FB-B537F5C2D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5619"/>
            <a:ext cx="10515600" cy="4351338"/>
          </a:xfrm>
        </p:spPr>
        <p:txBody>
          <a:bodyPr/>
          <a:lstStyle/>
          <a:p>
            <a:r>
              <a:rPr lang="en-US" dirty="0"/>
              <a:t>CMS has several layers of detector elements:</a:t>
            </a:r>
          </a:p>
          <a:p>
            <a:pPr lvl="1"/>
            <a:r>
              <a:rPr lang="en-US" dirty="0"/>
              <a:t>Silicon pixels and strips give spatial tracking information.</a:t>
            </a:r>
          </a:p>
          <a:p>
            <a:pPr lvl="1"/>
            <a:r>
              <a:rPr lang="en-US" dirty="0"/>
              <a:t>Calorimeters measure energy deposition in different areas.</a:t>
            </a:r>
          </a:p>
          <a:p>
            <a:pPr lvl="2"/>
            <a:r>
              <a:rPr lang="en-US" u="sng" dirty="0"/>
              <a:t>Electromagnetic calorimeter(ECAL) </a:t>
            </a:r>
            <a:r>
              <a:rPr lang="en-US" dirty="0"/>
              <a:t>measures electrons and photons.</a:t>
            </a:r>
          </a:p>
          <a:p>
            <a:pPr lvl="2"/>
            <a:r>
              <a:rPr lang="en-US" dirty="0"/>
              <a:t>Hadron calorimeter(HCAL) detects hadronic particles.</a:t>
            </a:r>
          </a:p>
          <a:p>
            <a:pPr lvl="1"/>
            <a:r>
              <a:rPr lang="en-US" dirty="0"/>
              <a:t>3.8T Solenoid provides strong magnetic field for inner detector.</a:t>
            </a:r>
          </a:p>
          <a:p>
            <a:pPr lvl="1"/>
            <a:r>
              <a:rPr lang="en-US" dirty="0"/>
              <a:t>Muon chambers (Drift Tubes)</a:t>
            </a:r>
          </a:p>
          <a:p>
            <a:pPr lvl="1"/>
            <a:r>
              <a:rPr lang="en-US" dirty="0"/>
              <a:t>Scintillators and “RPCs” for triggering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34B7D-9743-0739-FF1F-C3EBE939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Robert Lee,  31/03/2022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F207C-6C8F-99DD-03B4-157CB2A5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B2FD-AE86-CC4C-AD3D-1E8B612CB11F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2" descr="particle detection summary">
            <a:extLst>
              <a:ext uri="{FF2B5EF4-FFF2-40B4-BE49-F238E27FC236}">
                <a16:creationId xmlns:a16="http://schemas.microsoft.com/office/drawing/2014/main" id="{C851D748-7E94-7B7C-27D8-34448E02B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26017"/>
            <a:ext cx="4934968" cy="263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94C4E059-EDE5-69F5-CE36-5A4097D24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725" y="3446412"/>
            <a:ext cx="4823286" cy="33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13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0C5D-50FB-2F95-5A0D-E2C23B6A5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FEE43-9B9C-85E0-B0F4-BE3D3B94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Triggering at CMS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8F5CD-5A29-6462-FCBC-74AF27C93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7" y="1191523"/>
            <a:ext cx="12186783" cy="506320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Run 3 bunch crossings occur at 40 MHz (every 25 ns)</a:t>
            </a:r>
          </a:p>
          <a:p>
            <a:pPr lvl="1"/>
            <a:r>
              <a:rPr lang="en-US" dirty="0"/>
              <a:t>Each bunch crossing contains an average of 57 collisions (termed pileup)</a:t>
            </a:r>
          </a:p>
          <a:p>
            <a:pPr lvl="1"/>
            <a:endParaRPr lang="en-US" dirty="0"/>
          </a:p>
          <a:p>
            <a:r>
              <a:rPr lang="en-US" dirty="0"/>
              <a:t>Two-tiered triggering system is designed to reduce rate to a level that can be read out, processed and stored</a:t>
            </a:r>
          </a:p>
          <a:p>
            <a:endParaRPr lang="en-US" dirty="0"/>
          </a:p>
          <a:p>
            <a:r>
              <a:rPr lang="en-US" dirty="0"/>
              <a:t>Hardware-based Level 1 (L1) trigger takes raw detector inputs and reduces rate to ~110 kHz.</a:t>
            </a:r>
          </a:p>
          <a:p>
            <a:endParaRPr lang="en-US" dirty="0"/>
          </a:p>
          <a:p>
            <a:r>
              <a:rPr lang="en-US" dirty="0"/>
              <a:t>Software-based </a:t>
            </a:r>
            <a:r>
              <a:rPr lang="en-US" u="sng" dirty="0"/>
              <a:t>High-Level Trigger (HLT) </a:t>
            </a:r>
            <a:r>
              <a:rPr lang="en-US" dirty="0"/>
              <a:t>processes outputs from L1, performs event reconstruction, and selects just 7 kHz of events to save.</a:t>
            </a:r>
          </a:p>
          <a:p>
            <a:pPr lvl="1"/>
            <a:r>
              <a:rPr lang="en-US" dirty="0"/>
              <a:t>Each event is ~ 1 MB, so storage load is still huge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A9D57-DEC9-7372-AC5E-C91BFD67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41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E41F-E153-5206-495A-1571FB4A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9854FE-1881-3366-EF18-B2A16430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715" y="4111310"/>
            <a:ext cx="4405068" cy="27466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2A87E-70D9-AFCE-F7DD-39A3AFDF61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7" y="1191523"/>
                <a:ext cx="12186783" cy="56556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Reconstruction of photon and electron signatures occurs almost exclusively in the Electromagnetic Calorimeter (</a:t>
                </a:r>
                <a:r>
                  <a:rPr lang="en-US" dirty="0" err="1"/>
                  <a:t>ECal</a:t>
                </a:r>
                <a:r>
                  <a:rPr lang="en-US" dirty="0"/>
                  <a:t>).</a:t>
                </a:r>
              </a:p>
              <a:p>
                <a:endParaRPr lang="en-US" dirty="0"/>
              </a:p>
              <a:p>
                <a:r>
                  <a:rPr lang="en-US" dirty="0"/>
                  <a:t>Energy deposition measured in ECAL by lead tungstate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bW</m:t>
                    </m:r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) crystals.</a:t>
                </a:r>
              </a:p>
              <a:p>
                <a:pPr lvl="1"/>
                <a:r>
                  <a:rPr lang="en-US" dirty="0"/>
                  <a:t>75,848 total crystals between one Barrel and two Endcaps.</a:t>
                </a:r>
              </a:p>
              <a:p>
                <a:pPr lvl="1"/>
                <a:r>
                  <a:rPr lang="en-US" dirty="0"/>
                  <a:t>Crystals arranged in azimuth(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:r>
                  <a:rPr lang="en-US" dirty="0" err="1"/>
                  <a:t>psuedorapidity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Crystals are designed to be smaller than shower size, “</a:t>
                </a:r>
                <a:r>
                  <a:rPr lang="en-US" dirty="0" err="1"/>
                  <a:t>superclustering</a:t>
                </a:r>
                <a:r>
                  <a:rPr lang="en-US" dirty="0"/>
                  <a:t>” associates.</a:t>
                </a:r>
              </a:p>
              <a:p>
                <a:endParaRPr lang="en-US" dirty="0"/>
              </a:p>
              <a:p>
                <a:r>
                  <a:rPr lang="en-US" dirty="0"/>
                  <a:t>“Shower shape” quantifies deposited energy shape</a:t>
                </a:r>
              </a:p>
              <a:p>
                <a:endParaRPr lang="en-US" dirty="0"/>
              </a:p>
              <a:p>
                <a:r>
                  <a:rPr lang="en-US" dirty="0"/>
                  <a:t>“Isolation” measures energy deposited around cluster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In conjunction with kinematics, e/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can be reconstructed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2A87E-70D9-AFCE-F7DD-39A3AFDF6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7" y="1191523"/>
                <a:ext cx="12186783" cy="5655682"/>
              </a:xfrm>
              <a:blipFill>
                <a:blip r:embed="rId3"/>
                <a:stretch>
                  <a:fillRect l="-937" t="-2461" r="-1457" b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5A1AA4-BFA3-2D6A-CD3D-A04DCB7207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e/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Event Reconstruction at CMS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5A1AA4-BFA3-2D6A-CD3D-A04DCB720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8C0B7-5490-6A50-08E2-A0F2003D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4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C31BD-FDD8-24A6-9239-909BAFD5C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7CC7DB-A31A-E2C9-3681-485849FBB6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The Standard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HLT (</a:t>
                </a:r>
                <a:r>
                  <a:rPr lang="en-US" dirty="0" err="1"/>
                  <a:t>sHLT</a:t>
                </a:r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87CC7DB-A31A-E2C9-3681-485849FBB6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DCECE2-77A3-DE57-CDDB-60F6D3BDE3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761" y="1191524"/>
                <a:ext cx="12193761" cy="318940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analysis group develops their own specific triggers, designed to isolate the necessary components of their chosen physics event.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, the HLT must accept two photons that are consistent with originating from the decay of a Higgs boson.</a:t>
                </a:r>
              </a:p>
              <a:p>
                <a:endParaRPr lang="en-US" dirty="0"/>
              </a:p>
              <a:p>
                <a:r>
                  <a:rPr lang="en-US" dirty="0"/>
                  <a:t>Throughout Run 2, and much of Run 3, the primary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HLT was based on hard cuts on kinematic, isolation, and shower shape variables.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DCECE2-77A3-DE57-CDDB-60F6D3BDE3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761" y="1191524"/>
                <a:ext cx="12193761" cy="3189408"/>
              </a:xfrm>
              <a:blipFill>
                <a:blip r:embed="rId3"/>
                <a:stretch>
                  <a:fillRect l="-937" t="-3162" r="-1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1EA82-2C18-516C-FA7B-FF3FF6AF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7">
                <a:extLst>
                  <a:ext uri="{FF2B5EF4-FFF2-40B4-BE49-F238E27FC236}">
                    <a16:creationId xmlns:a16="http://schemas.microsoft.com/office/drawing/2014/main" id="{93DE8F79-75D3-1070-F07A-D71E1B236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9075133"/>
                  </p:ext>
                </p:extLst>
              </p:nvPr>
            </p:nvGraphicFramePr>
            <p:xfrm>
              <a:off x="183671" y="4306286"/>
              <a:ext cx="11698735" cy="2407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8464">
                      <a:extLst>
                        <a:ext uri="{9D8B030D-6E8A-4147-A177-3AD203B41FA5}">
                          <a16:colId xmlns:a16="http://schemas.microsoft.com/office/drawing/2014/main" val="3300063163"/>
                        </a:ext>
                      </a:extLst>
                    </a:gridCol>
                    <a:gridCol w="1351147">
                      <a:extLst>
                        <a:ext uri="{9D8B030D-6E8A-4147-A177-3AD203B41FA5}">
                          <a16:colId xmlns:a16="http://schemas.microsoft.com/office/drawing/2014/main" val="1412381616"/>
                        </a:ext>
                      </a:extLst>
                    </a:gridCol>
                    <a:gridCol w="1998627">
                      <a:extLst>
                        <a:ext uri="{9D8B030D-6E8A-4147-A177-3AD203B41FA5}">
                          <a16:colId xmlns:a16="http://schemas.microsoft.com/office/drawing/2014/main" val="37919262"/>
                        </a:ext>
                      </a:extLst>
                    </a:gridCol>
                    <a:gridCol w="1368110">
                      <a:extLst>
                        <a:ext uri="{9D8B030D-6E8A-4147-A177-3AD203B41FA5}">
                          <a16:colId xmlns:a16="http://schemas.microsoft.com/office/drawing/2014/main" val="2195260428"/>
                        </a:ext>
                      </a:extLst>
                    </a:gridCol>
                    <a:gridCol w="1295106">
                      <a:extLst>
                        <a:ext uri="{9D8B030D-6E8A-4147-A177-3AD203B41FA5}">
                          <a16:colId xmlns:a16="http://schemas.microsoft.com/office/drawing/2014/main" val="3530443662"/>
                        </a:ext>
                      </a:extLst>
                    </a:gridCol>
                    <a:gridCol w="1412625">
                      <a:extLst>
                        <a:ext uri="{9D8B030D-6E8A-4147-A177-3AD203B41FA5}">
                          <a16:colId xmlns:a16="http://schemas.microsoft.com/office/drawing/2014/main" val="1312993520"/>
                        </a:ext>
                      </a:extLst>
                    </a:gridCol>
                    <a:gridCol w="1567328">
                      <a:extLst>
                        <a:ext uri="{9D8B030D-6E8A-4147-A177-3AD203B41FA5}">
                          <a16:colId xmlns:a16="http://schemas.microsoft.com/office/drawing/2014/main" val="207053395"/>
                        </a:ext>
                      </a:extLst>
                    </a:gridCol>
                    <a:gridCol w="1567328">
                      <a:extLst>
                        <a:ext uri="{9D8B030D-6E8A-4147-A177-3AD203B41FA5}">
                          <a16:colId xmlns:a16="http://schemas.microsoft.com/office/drawing/2014/main" val="116645574"/>
                        </a:ext>
                      </a:extLst>
                    </a:gridCol>
                  </a:tblGrid>
                  <a:tr h="536786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Detector Region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H/E</a:t>
                          </a:r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pPr algn="ctr"/>
                          <a:r>
                            <a:rPr lang="en-US" sz="1600" dirty="0"/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/>
                            <a:t>/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dirty="0" smtClean="0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1600" b="1" i="1" dirty="0" smtClean="0">
                                      <a:latin typeface="Cambria Math" panose="02040503050406030204" pitchFamily="18" charset="0"/>
                                    </a:rPr>
                                    <m:t>𝑺𝑪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/>
                            <a:t>ECal</a:t>
                          </a:r>
                          <a:r>
                            <a:rPr lang="en-US" sz="1600" dirty="0"/>
                            <a:t> Isolation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Track Isolation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𝜼</m:t>
                                    </m:r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𝜼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r>
                            <a:rPr lang="en-US" sz="1600" dirty="0"/>
                            <a:t>(Lead , </a:t>
                          </a:r>
                          <a:r>
                            <a:rPr lang="en-US" sz="1600" dirty="0" err="1"/>
                            <a:t>Sublead</a:t>
                          </a:r>
                          <a:r>
                            <a:rPr lang="en-US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𝜸𝜸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3447589"/>
                      </a:ext>
                    </a:extLst>
                  </a:tr>
                  <a:tr h="31802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Barrel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&gt; 0.85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30, 22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90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𝐺𝑒𝑉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5636596"/>
                      </a:ext>
                    </a:extLst>
                  </a:tr>
                  <a:tr h="529647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&lt; 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0.5 &lt; R9 &lt; 0.85 </a:t>
                          </a:r>
                        </a:p>
                        <a:p>
                          <a:r>
                            <a:rPr lang="en-US" sz="1600" dirty="0"/>
                            <a:t>Hard cut at R9 &lt; 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6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6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0.015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30, 22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90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𝐺𝑒𝑉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1432543"/>
                      </a:ext>
                    </a:extLst>
                  </a:tr>
                  <a:tr h="31802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Endcap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&lt; 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&gt; 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30, 22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90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𝐺𝑒𝑉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5833673"/>
                      </a:ext>
                    </a:extLst>
                  </a:tr>
                  <a:tr h="529647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 &lt;0.12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0.8 &lt; R9 </a:t>
                          </a:r>
                          <a:r>
                            <a:rPr lang="en-US" sz="1600" dirty="0"/>
                            <a:t>&lt; 0.9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Hard cut at R9 &lt; 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6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6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0.035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30, 22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90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𝐺𝑒𝑉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28976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7">
                <a:extLst>
                  <a:ext uri="{FF2B5EF4-FFF2-40B4-BE49-F238E27FC236}">
                    <a16:creationId xmlns:a16="http://schemas.microsoft.com/office/drawing/2014/main" id="{93DE8F79-75D3-1070-F07A-D71E1B236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9075133"/>
                  </p:ext>
                </p:extLst>
              </p:nvPr>
            </p:nvGraphicFramePr>
            <p:xfrm>
              <a:off x="183671" y="4306286"/>
              <a:ext cx="11698735" cy="2407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8464">
                      <a:extLst>
                        <a:ext uri="{9D8B030D-6E8A-4147-A177-3AD203B41FA5}">
                          <a16:colId xmlns:a16="http://schemas.microsoft.com/office/drawing/2014/main" val="3300063163"/>
                        </a:ext>
                      </a:extLst>
                    </a:gridCol>
                    <a:gridCol w="1351147">
                      <a:extLst>
                        <a:ext uri="{9D8B030D-6E8A-4147-A177-3AD203B41FA5}">
                          <a16:colId xmlns:a16="http://schemas.microsoft.com/office/drawing/2014/main" val="1412381616"/>
                        </a:ext>
                      </a:extLst>
                    </a:gridCol>
                    <a:gridCol w="1998627">
                      <a:extLst>
                        <a:ext uri="{9D8B030D-6E8A-4147-A177-3AD203B41FA5}">
                          <a16:colId xmlns:a16="http://schemas.microsoft.com/office/drawing/2014/main" val="37919262"/>
                        </a:ext>
                      </a:extLst>
                    </a:gridCol>
                    <a:gridCol w="1368110">
                      <a:extLst>
                        <a:ext uri="{9D8B030D-6E8A-4147-A177-3AD203B41FA5}">
                          <a16:colId xmlns:a16="http://schemas.microsoft.com/office/drawing/2014/main" val="2195260428"/>
                        </a:ext>
                      </a:extLst>
                    </a:gridCol>
                    <a:gridCol w="1295106">
                      <a:extLst>
                        <a:ext uri="{9D8B030D-6E8A-4147-A177-3AD203B41FA5}">
                          <a16:colId xmlns:a16="http://schemas.microsoft.com/office/drawing/2014/main" val="3530443662"/>
                        </a:ext>
                      </a:extLst>
                    </a:gridCol>
                    <a:gridCol w="1412625">
                      <a:extLst>
                        <a:ext uri="{9D8B030D-6E8A-4147-A177-3AD203B41FA5}">
                          <a16:colId xmlns:a16="http://schemas.microsoft.com/office/drawing/2014/main" val="1312993520"/>
                        </a:ext>
                      </a:extLst>
                    </a:gridCol>
                    <a:gridCol w="1567328">
                      <a:extLst>
                        <a:ext uri="{9D8B030D-6E8A-4147-A177-3AD203B41FA5}">
                          <a16:colId xmlns:a16="http://schemas.microsoft.com/office/drawing/2014/main" val="207053395"/>
                        </a:ext>
                      </a:extLst>
                    </a:gridCol>
                    <a:gridCol w="1567328">
                      <a:extLst>
                        <a:ext uri="{9D8B030D-6E8A-4147-A177-3AD203B41FA5}">
                          <a16:colId xmlns:a16="http://schemas.microsoft.com/office/drawing/2014/main" val="116645574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Detector Region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H/E</a:t>
                          </a:r>
                        </a:p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4684" t="-4348" r="-360759" b="-326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/>
                            <a:t>ECal</a:t>
                          </a:r>
                          <a:r>
                            <a:rPr lang="en-US" sz="1600" dirty="0"/>
                            <a:t> Isolation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Track Isolation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9009" t="-4348" r="-224324" b="-326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49593" t="-4348" r="-102439" b="-326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44355" t="-4348" r="-1613" b="-326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344758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Barrel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&gt; 0.85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30, 22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44355" t="-184615" r="-1613" b="-47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563659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&lt; 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0.5 &lt; R9 &lt; 0.85 </a:t>
                          </a:r>
                        </a:p>
                        <a:p>
                          <a:r>
                            <a:rPr lang="en-US" sz="1600" dirty="0"/>
                            <a:t>Hard cut at R9 &lt; 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6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6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0.015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30, 22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44355" t="-160870" r="-1613" b="-169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143254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Endcap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&lt; 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&gt; 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30, 22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44355" t="-461538" r="-161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583367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 &lt;0.12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0.8 &lt; R9 </a:t>
                          </a:r>
                          <a:r>
                            <a:rPr lang="en-US" sz="1600" dirty="0"/>
                            <a:t>&lt; 0.9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Hard cut at R9 &lt; 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6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6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&lt; 0.035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&gt; 30, 22 GeV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44355" t="-317391" r="-1613" b="-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28976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11997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E9EEA-47CE-D1A1-D34A-4DDFF339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771460-7E8C-02F6-1E86-4484E3FDB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898" y="3659717"/>
            <a:ext cx="4305722" cy="31982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2619ED-3AEA-6767-4C87-D21281AE8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Boosted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45BA3-E660-6C9C-A5A0-F96E7A8F4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" y="1193556"/>
            <a:ext cx="12192909" cy="56347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Boosted Decision Tree (BDT) is a Machine Learning technique where “ensembles” of simple decision trees are combined to process high-dimensional data.</a:t>
            </a:r>
          </a:p>
          <a:p>
            <a:endParaRPr lang="en-US" dirty="0"/>
          </a:p>
          <a:p>
            <a:r>
              <a:rPr lang="en-US" dirty="0"/>
              <a:t>Since the HLT is a binary classification problem (signal vs background), BDTs are an obvious approach.</a:t>
            </a:r>
          </a:p>
          <a:p>
            <a:endParaRPr lang="en-US" dirty="0"/>
          </a:p>
          <a:p>
            <a:r>
              <a:rPr lang="en-US" dirty="0"/>
              <a:t>Each tree operates on subsets of the available                                                       input variables, assigning weights at each ”node” to                                             build up a complex decision tree.</a:t>
            </a:r>
          </a:p>
          <a:p>
            <a:endParaRPr lang="en-US" dirty="0"/>
          </a:p>
          <a:p>
            <a:r>
              <a:rPr lang="en-US" dirty="0"/>
              <a:t>Our BDTs will use shower shape and isolation 				        variables.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C433C-6B37-369E-2685-2517DEDB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109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1BFD97-E6F7-9793-1A52-7D842E7F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Development of a BDT-Based High-Level Trigger (MVA-HLT)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AFFFDD-030E-AE9B-D672-EEA296369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B2E88-6D32-C8F0-5FBE-386231B11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87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EEB2-4121-4F82-3606-AB79C29C4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712134F-2D01-EA98-D9BA-16C2E0864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06" y="29722"/>
            <a:ext cx="10521818" cy="620517"/>
          </a:xfrm>
        </p:spPr>
        <p:txBody>
          <a:bodyPr>
            <a:normAutofit fontScale="90000"/>
          </a:bodyPr>
          <a:lstStyle/>
          <a:p>
            <a:r>
              <a:rPr lang="en-US" dirty="0"/>
              <a:t>Training Samples for a Trigger-Level Diphoton BDT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FB928-F786-4360-8C11-1051D1617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4683B9D-5E9A-EECD-9F86-C3AC45FB09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First step – selecting signal and background samples for training.</a:t>
                </a:r>
              </a:p>
              <a:p>
                <a:endParaRPr lang="en-US" dirty="0"/>
              </a:p>
              <a:p>
                <a:r>
                  <a:rPr lang="en-US" dirty="0"/>
                  <a:t>The goal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HLT is to not only correctly identify photon candidates, but to primarily accept photon candidates originating from Higgs decay.</a:t>
                </a:r>
              </a:p>
              <a:p>
                <a:endParaRPr lang="en-US" dirty="0"/>
              </a:p>
              <a:p>
                <a:r>
                  <a:rPr lang="en-US" dirty="0"/>
                  <a:t>The obvious signal sample is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Monte Carlo (MC) simulation.</a:t>
                </a:r>
              </a:p>
              <a:p>
                <a:pPr lvl="1"/>
                <a:r>
                  <a:rPr lang="en-US" dirty="0"/>
                  <a:t>Gluon Fusion Higgs was chosen, as it encompasses &gt; 85% of Higgs production.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There are many backgrounds to reject, including hadronic jets, single photon backgrounds, and real diphotons from other processes. Many of the backgrounds are very hard to simulate properly.</a:t>
                </a:r>
              </a:p>
              <a:p>
                <a:endParaRPr lang="en-US" dirty="0"/>
              </a:p>
              <a:p>
                <a:r>
                  <a:rPr lang="en-US" dirty="0"/>
                  <a:t>Trigger-level data samples will be almost exclusively background, as Higgs production is so rare as to make up a vanishingly small proportion of the total collected data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4683B9D-5E9A-EECD-9F86-C3AC45FB09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  <a:blipFill>
                <a:blip r:embed="rId2"/>
                <a:stretch>
                  <a:fillRect l="-832" t="-2252" r="-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648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5D106-D73A-687A-ECAF-32C46582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59D2DF-4DC9-A5B2-5247-0D29EB38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06" y="29722"/>
            <a:ext cx="10521818" cy="620517"/>
          </a:xfrm>
        </p:spPr>
        <p:txBody>
          <a:bodyPr>
            <a:normAutofit fontScale="90000"/>
          </a:bodyPr>
          <a:lstStyle/>
          <a:p>
            <a:r>
              <a:rPr lang="en-US" dirty="0"/>
              <a:t>Training a Trigger-Level Diphoton BDT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8D5E9-FC4D-A7B7-6BD6-B1B51585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16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0491E97-8B93-E82C-3B5E-E020F11A1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Once the samples are selected, input variables must be chosen on which to train the BDT.</a:t>
                </a:r>
              </a:p>
              <a:p>
                <a:pPr lvl="1"/>
                <a:r>
                  <a:rPr lang="en-US" dirty="0"/>
                  <a:t>An obvious starting point is to use the same variables used by the standard HLT!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Selected input variables are of three types:</a:t>
                </a:r>
              </a:p>
              <a:p>
                <a:pPr lvl="1"/>
                <a:r>
                  <a:rPr lang="en-US" dirty="0"/>
                  <a:t>Kinematic: Raw Supercluster energy,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Shower shape: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Width,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Width, H/E</a:t>
                </a:r>
              </a:p>
              <a:p>
                <a:pPr lvl="1"/>
                <a:r>
                  <a:rPr lang="en-US" dirty="0"/>
                  <a:t>Isolation: </a:t>
                </a:r>
                <a:r>
                  <a:rPr lang="en-US" dirty="0" err="1"/>
                  <a:t>ECal</a:t>
                </a:r>
                <a:r>
                  <a:rPr lang="en-US" dirty="0"/>
                  <a:t> Isolation</a:t>
                </a:r>
              </a:p>
              <a:p>
                <a:endParaRPr lang="en-US" dirty="0"/>
              </a:p>
              <a:p>
                <a:r>
                  <a:rPr lang="en-US" dirty="0"/>
                  <a:t>Once the samples are collected and the input variables determined, the “hyperparameters” of the model must be optimized to maximize the performance of the BDT (like Max Depth, Learning Rate)</a:t>
                </a:r>
              </a:p>
              <a:p>
                <a:pPr lvl="1"/>
                <a:r>
                  <a:rPr lang="en-US" dirty="0"/>
                  <a:t>These hyperparameters were optimized iteratively and experimentally.</a:t>
                </a: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0491E97-8B93-E82C-3B5E-E020F11A1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  <a:blipFill>
                <a:blip r:embed="rId2"/>
                <a:stretch>
                  <a:fillRect l="-937" t="-2027" r="-208"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387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7C1899-E2EA-EDA8-7E29-302B0D94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Trigger-Level Score Distributions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A5E5573-76CB-5447-D4BD-70D7BC3AC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705BD-2B17-DF81-5774-54BCBB44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8E53D5-58DC-EDFB-166E-815E85A189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2483" y="1240817"/>
            <a:ext cx="4652734" cy="45387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FE6159-59B0-4C62-E56D-C34B98128897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8D3C20-5F54-59B3-ACFC-9B672908D1BE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</a:rPr>
              <a:t>“Ephemeral”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35AA2C2-366D-4429-D850-5027C8053FD1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B050"/>
                    </a:solidFill>
                  </a:rPr>
                  <a:t>“Ephemeral” data </a:t>
                </a:r>
                <a:r>
                  <a:rPr lang="en-US" dirty="0"/>
                  <a:t>is all data passing L1 trigger, so includes all possible backgrounds.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outputs of this BDT are a score ranging from 0 to 1.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score of 0 means that the model has assigned maximum probability that the photon candidate is background, where a score of 1 means maximum probability of being signal.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Since two photon candidates are selected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, both scores are plotted together here.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35AA2C2-366D-4429-D850-5027C8053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5632311"/>
              </a:xfrm>
              <a:prstGeom prst="rect">
                <a:avLst/>
              </a:prstGeom>
              <a:blipFill>
                <a:blip r:embed="rId4"/>
                <a:stretch>
                  <a:fillRect l="-1176" t="-449" r="-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8D20B3C-0815-D251-0F26-0C4AD4488D6D}"/>
              </a:ext>
            </a:extLst>
          </p:cNvPr>
          <p:cNvSpPr txBox="1"/>
          <p:nvPr/>
        </p:nvSpPr>
        <p:spPr>
          <a:xfrm>
            <a:off x="230345" y="5779565"/>
            <a:ext cx="8683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Clearly, the signal usually has one (or both) candidate scores near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Meanwhile, most data events have one (or both) candidate scores near 0.</a:t>
            </a:r>
          </a:p>
        </p:txBody>
      </p:sp>
    </p:spTree>
    <p:extLst>
      <p:ext uri="{BB962C8B-B14F-4D97-AF65-F5344CB8AC3E}">
        <p14:creationId xmlns:p14="http://schemas.microsoft.com/office/powerpoint/2010/main" val="1788728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8063C-201E-6536-103F-4CFEA1B6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F1659A-2990-EAEC-6C02-751AEEDB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Selection of BDT Score Cuts for MVA-HLT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29185BC-E889-B36B-CE4D-36761BCCD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48E4-980B-599D-295F-45D98DC9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710A42-12D9-AC06-1CB8-8E30A4AB23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2483" y="1240817"/>
            <a:ext cx="4652734" cy="45387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54F6E8-42CF-1072-20A4-2FCD01B6FDC1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F48D1-0F75-4B2B-4100-DC5F9260AE45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“Ephemeral”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4A10FE-4901-BE71-0D0C-5BBC7E129983}"/>
              </a:ext>
            </a:extLst>
          </p:cNvPr>
          <p:cNvSpPr txBox="1"/>
          <p:nvPr/>
        </p:nvSpPr>
        <p:spPr>
          <a:xfrm>
            <a:off x="8913656" y="1176360"/>
            <a:ext cx="322483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Cuts (in yellow) are chosen to select as many signal MC events as possible while keeping the data rate 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“Step” pattern shows conditional cuts – one photon with a very high score requires a lower score cut on the second photon.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structure allows many events with one very high-quality photon to be preserved in the signal MC.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995CC9-AF5D-A484-EB33-BDD573458781}"/>
              </a:ext>
            </a:extLst>
          </p:cNvPr>
          <p:cNvSpPr txBox="1"/>
          <p:nvPr/>
        </p:nvSpPr>
        <p:spPr>
          <a:xfrm>
            <a:off x="230345" y="5779565"/>
            <a:ext cx="8683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signal losses occur due to having a second photon with a very low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little data is accepted – This selection has a much lower rate (29.4 Hz) than the standard HLT (61.5 Hz).</a:t>
            </a:r>
          </a:p>
        </p:txBody>
      </p:sp>
    </p:spTree>
    <p:extLst>
      <p:ext uri="{BB962C8B-B14F-4D97-AF65-F5344CB8AC3E}">
        <p14:creationId xmlns:p14="http://schemas.microsoft.com/office/powerpoint/2010/main" val="3428671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EBDD4-DFBD-E1E9-3629-064166857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6B6F74C6-F8E1-C15B-1225-8F95D2E1B9F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Trigger-Level Results for </a:t>
                </a:r>
                <a:br>
                  <a:rPr lang="en-US" b="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𝐻𝐻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6B6F74C6-F8E1-C15B-1225-8F95D2E1B9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4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3AB8C5-2DBA-16F9-4ABE-0C27DB93C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4DAB4-5B6B-FAC3-B852-3F506FBD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15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A5673-2AB7-9A10-3D6E-9E4F61891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7CA4132-1BC0-DBD2-ED9C-24F8A44DA7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7CA4132-1BC0-DBD2-ED9C-24F8A44DA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9228812-485F-A2FB-746B-04366D7F2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6A24D-B8C3-D1CC-5CD5-A130A3C6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BEA88C-6829-4A5E-4563-5B92099359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4" cy="45283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B7F9E9-955B-1FAE-46B9-79C31E9C86FA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BF3648-DD99-C6F6-CB47-FF3BC6622A85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DD2E93-C91F-E1A9-D8E1-29F99EE4296E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Here, the data used must pass any of a large number of e/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HLTs (different from ephemeral).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results of the previous cuts are saved in both the data and MC, and the variable distributions of the accepted events can be analyzed.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Our goal is two-fold: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signal acceptance must increase without an increase in data rate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Signal events that we gain must be shown to be of decent quality.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DD2E93-C91F-E1A9-D8E1-29F99EE42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5909310"/>
              </a:xfrm>
              <a:prstGeom prst="rect">
                <a:avLst/>
              </a:prstGeom>
              <a:blipFill>
                <a:blip r:embed="rId5"/>
                <a:stretch>
                  <a:fillRect l="-1176" t="-429"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B60CC33-4AD1-B1AB-A01C-283DEC866681}"/>
              </a:ext>
            </a:extLst>
          </p:cNvPr>
          <p:cNvSpPr txBox="1"/>
          <p:nvPr/>
        </p:nvSpPr>
        <p:spPr>
          <a:xfrm>
            <a:off x="230345" y="5779565"/>
            <a:ext cx="8683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Much of </a:t>
            </a:r>
            <a:r>
              <a:rPr lang="en-US" dirty="0">
                <a:solidFill>
                  <a:srgbClr val="00B0F0"/>
                </a:solidFill>
              </a:rPr>
              <a:t>the gain from our selection </a:t>
            </a:r>
            <a:r>
              <a:rPr lang="en-US" dirty="0"/>
              <a:t>occurs within the mass peak.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signal efficiency of </a:t>
            </a:r>
            <a:r>
              <a:rPr lang="en-US" dirty="0">
                <a:solidFill>
                  <a:schemeClr val="accent1"/>
                </a:solidFill>
              </a:rPr>
              <a:t>our selection</a:t>
            </a:r>
            <a:r>
              <a:rPr lang="en-US" dirty="0"/>
              <a:t> (97.3%) is improved relative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sHLT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(88.7%).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 rate is considerably lower for our selection (~47% relative reduction in rate).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585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FAD7-B2DE-6041-045A-F581F181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2C4A5EF9-A066-9812-9064-666AAD8781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2C4A5EF9-A066-9812-9064-666AAD8781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3C48D77-804C-6F09-8788-117FB0F0B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9E4E1-CDAB-F607-95E5-6FF0B1C60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F5AFE6-BF72-916F-B53F-31657F89C9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3" cy="45283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7D1886-8195-03A1-B72B-7DA62758CE4A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D4601F-E034-319B-B332-218F32924F02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AE979D-ACEB-8295-546E-926765878C1D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sHLT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shows a relative signal MC inefficiency at the start of the endcap.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Due to hard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n-US" dirty="0"/>
                  <a:t> cuts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1"/>
                    </a:solidFill>
                  </a:rPr>
                  <a:t>MVA-HLT </a:t>
                </a:r>
                <a:r>
                  <a:rPr lang="en-US" dirty="0"/>
                  <a:t>has consistent efficiency throughout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of the signal MC.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Improved kinematic coverage!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sHLT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accepts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many data events with very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r>
                  <a:rPr lang="en-US" dirty="0"/>
                  <a:t>, which tend to be lower quality events.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AE979D-ACEB-8295-546E-926765878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4524315"/>
              </a:xfrm>
              <a:prstGeom prst="rect">
                <a:avLst/>
              </a:prstGeom>
              <a:blipFill>
                <a:blip r:embed="rId5"/>
                <a:stretch>
                  <a:fillRect l="-1176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1FBCB6-7A23-CD33-6D64-A6F711985602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1"/>
                    </a:solidFill>
                  </a:rPr>
                  <a:t>MVA-HLT</a:t>
                </a:r>
                <a:r>
                  <a:rPr lang="en-US" dirty="0"/>
                  <a:t> improves the kinematic coverage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r>
                  <a:rPr lang="en-US" dirty="0"/>
                  <a:t> relative to the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sHLT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1FBCB6-7A23-CD33-6D64-A6F711985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369332"/>
              </a:xfrm>
              <a:prstGeom prst="rect">
                <a:avLst/>
              </a:prstGeom>
              <a:blipFill>
                <a:blip r:embed="rId6"/>
                <a:stretch>
                  <a:fillRect l="-585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573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FE61-05F3-DAF5-9217-3817AAE8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A906F5CC-66D6-1183-4522-AC342B4F0D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A906F5CC-66D6-1183-4522-AC342B4F0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9A6AFA5-5D24-CBA1-CB0F-B5098C50E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A53F0-822A-A0D5-B39A-A6BF12633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CBDEDD-403B-19D7-CB9B-735A7F7DF7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3" cy="45283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E62FF4-52D7-EA60-6DDA-9A392F194DFD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0EB1C2-9789-80D1-D4E9-06C175DB2E04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F4A03E-20EF-AC88-A581-44D04CE0D2A1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hard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cuts of the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sHLT</a:t>
                </a:r>
                <a:r>
                  <a:rPr lang="en-US" dirty="0"/>
                  <a:t> cut out signal events.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Without tight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cuts, the </a:t>
                </a:r>
                <a:r>
                  <a:rPr lang="en-US" dirty="0">
                    <a:solidFill>
                      <a:schemeClr val="accent1"/>
                    </a:solidFill>
                  </a:rPr>
                  <a:t>MVA-HLT</a:t>
                </a:r>
                <a:r>
                  <a:rPr lang="en-US" dirty="0"/>
                  <a:t> gains back many of these events.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F4A03E-20EF-AC88-A581-44D04CE0D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1754326"/>
              </a:xfrm>
              <a:prstGeom prst="rect">
                <a:avLst/>
              </a:prstGeom>
              <a:blipFill>
                <a:blip r:embed="rId5"/>
                <a:stretch>
                  <a:fillRect l="-1176" t="-1439" r="-392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E0DEBD-34A4-3341-7745-1C7FDAA16465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1"/>
                    </a:solidFill>
                  </a:rPr>
                  <a:t>MVA-HLT</a:t>
                </a:r>
                <a:r>
                  <a:rPr lang="en-US" dirty="0"/>
                  <a:t> improves the kinematic coverage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r>
                  <a:rPr lang="en-US" dirty="0"/>
                  <a:t> relative to the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sHLT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E0DEBD-34A4-3341-7745-1C7FDAA16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668516"/>
              </a:xfrm>
              <a:prstGeom prst="rect">
                <a:avLst/>
              </a:prstGeom>
              <a:blipFill>
                <a:blip r:embed="rId6"/>
                <a:stretch>
                  <a:fillRect l="-585" t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322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41C16-6111-7434-655F-C206BBE6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C5F0E937-0658-A010-930E-468B73A577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 err="1"/>
                  <a:t>DiHiggs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C5F0E937-0658-A010-930E-468B73A577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92D56AE-C62D-3829-00F4-8DC2745CF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2E13E-FDF7-D83F-7F9B-67BBE99E9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61479C-AC96-14B3-8402-6C6D606791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3" cy="45283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A1E935-9643-0299-780B-CEE7EE5EEC45}"/>
              </a:ext>
            </a:extLst>
          </p:cNvPr>
          <p:cNvSpPr txBox="1"/>
          <p:nvPr/>
        </p:nvSpPr>
        <p:spPr>
          <a:xfrm>
            <a:off x="1014099" y="714695"/>
            <a:ext cx="26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34E440-BE7A-C3C7-E3D3-181D91A8B9AD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3D2A4C-F530-E14C-4DE7-BB5CF3F2891E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4253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signal MC and data here have additional requirements on the second Higgs boson (these additional cuts have been established by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analysis group).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Very similar performance is seen to that of the single Higgs.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shows that the MVA-HLT generalizes well, even though it was trained on single Higgs signal MC.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3D2A4C-F530-E14C-4DE7-BB5CF3F28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4253408"/>
              </a:xfrm>
              <a:prstGeom prst="rect">
                <a:avLst/>
              </a:prstGeom>
              <a:blipFill>
                <a:blip r:embed="rId5"/>
                <a:stretch>
                  <a:fillRect l="-1176" t="-595" r="-2745" b="-1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AA74F7-8F39-08A4-92F6-E2923D2BE4D2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signal efficiency of the </a:t>
                </a:r>
                <a:r>
                  <a:rPr lang="en-US" dirty="0">
                    <a:solidFill>
                      <a:schemeClr val="accent1"/>
                    </a:solidFill>
                  </a:rPr>
                  <a:t>MVA-HLT</a:t>
                </a:r>
                <a:r>
                  <a:rPr lang="en-US" dirty="0"/>
                  <a:t> (98.5%) is higher than that of the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sHLT</a:t>
                </a:r>
                <a:r>
                  <a:rPr lang="en-US" dirty="0"/>
                  <a:t> (88.5%).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1"/>
                    </a:solidFill>
                  </a:rPr>
                  <a:t>MVA-HLT</a:t>
                </a:r>
                <a:r>
                  <a:rPr lang="en-US" dirty="0"/>
                  <a:t> generalizes well to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sample.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AA74F7-8F39-08A4-92F6-E2923D2B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646331"/>
              </a:xfrm>
              <a:prstGeom prst="rect">
                <a:avLst/>
              </a:prstGeom>
              <a:blipFill>
                <a:blip r:embed="rId6"/>
                <a:stretch>
                  <a:fillRect l="-585"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668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4D4C-D8BF-0B2D-8D2C-C8F2CED5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A11CFFC9-2607-22EF-A73D-CA8237A7B9C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 err="1"/>
                  <a:t>DiHiggs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A11CFFC9-2607-22EF-A73D-CA8237A7B9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7D5DFEE-DE9C-2420-281B-7C0BCBF4D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9FAB8-3AAC-E07F-A2A7-5E32C4F7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6A59A8-5C4D-BA7F-CF7F-BE8AF39574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3" cy="45283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5B57EF-2911-F7FC-1159-CE4300339F07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BB7199-B998-0CDF-A7B3-62B543403419}"/>
              </a:ext>
            </a:extLst>
          </p:cNvPr>
          <p:cNvSpPr txBox="1"/>
          <p:nvPr/>
        </p:nvSpPr>
        <p:spPr>
          <a:xfrm>
            <a:off x="8913656" y="1176360"/>
            <a:ext cx="3224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improvements to the kinematic coverage can be seen for the </a:t>
            </a:r>
            <a:r>
              <a:rPr lang="en-US" dirty="0" err="1"/>
              <a:t>DiHiggs</a:t>
            </a:r>
            <a:r>
              <a:rPr lang="en-US" dirty="0"/>
              <a:t> sample.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F8DD4C-C8E4-3EE3-82D5-00628AF7F5F5}"/>
              </a:ext>
            </a:extLst>
          </p:cNvPr>
          <p:cNvSpPr txBox="1"/>
          <p:nvPr/>
        </p:nvSpPr>
        <p:spPr>
          <a:xfrm>
            <a:off x="1014099" y="714695"/>
            <a:ext cx="26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</p:spTree>
    <p:extLst>
      <p:ext uri="{BB962C8B-B14F-4D97-AF65-F5344CB8AC3E}">
        <p14:creationId xmlns:p14="http://schemas.microsoft.com/office/powerpoint/2010/main" val="2027014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30DDA-B9BA-FF63-DD30-C7549DC8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9A122685-B3C1-ECAB-650D-4B704305CF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 err="1"/>
                  <a:t>DiHiggs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9A122685-B3C1-ECAB-650D-4B704305C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E789ABB-948D-7967-A9D5-E8D5CEA4D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B71A-C9FC-5D96-5270-B98B895B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4F6B60-0855-4A44-C3AD-CD0A332FC7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2" cy="45283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3261DF-1118-6D3C-01AA-F8E02BC663C6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477234-DE5F-2D3A-E3D1-6C0282968E1A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hard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cuts of the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sHLT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have a stronger impact on the </a:t>
                </a:r>
                <a:r>
                  <a:rPr lang="en-US" dirty="0" err="1"/>
                  <a:t>DiHiggs</a:t>
                </a:r>
                <a:r>
                  <a:rPr lang="en-US" dirty="0"/>
                  <a:t> signal MC.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477234-DE5F-2D3A-E3D1-6C0282968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1477328"/>
              </a:xfrm>
              <a:prstGeom prst="rect">
                <a:avLst/>
              </a:prstGeom>
              <a:blipFill>
                <a:blip r:embed="rId5"/>
                <a:stretch>
                  <a:fillRect l="-1176"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070800D-6A2E-391E-5C77-4040A9C3AB0D}"/>
              </a:ext>
            </a:extLst>
          </p:cNvPr>
          <p:cNvSpPr txBox="1"/>
          <p:nvPr/>
        </p:nvSpPr>
        <p:spPr>
          <a:xfrm>
            <a:off x="1014099" y="714695"/>
            <a:ext cx="26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6C8FDE-4680-239F-9E1F-A604DD8B8BFC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391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1"/>
                    </a:solidFill>
                  </a:rPr>
                  <a:t>MVA-HLT </a:t>
                </a:r>
                <a:r>
                  <a:rPr lang="en-US" dirty="0"/>
                  <a:t>is able to </a:t>
                </a:r>
                <a:r>
                  <a:rPr lang="en-US" dirty="0">
                    <a:solidFill>
                      <a:srgbClr val="00B0F0"/>
                    </a:solidFill>
                  </a:rPr>
                  <a:t>gain more signal events </a:t>
                </a:r>
                <a:r>
                  <a:rPr lang="en-US" dirty="0"/>
                  <a:t>at lower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6C8FDE-4680-239F-9E1F-A604DD8B8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391517"/>
              </a:xfrm>
              <a:prstGeom prst="rect">
                <a:avLst/>
              </a:prstGeom>
              <a:blipFill>
                <a:blip r:embed="rId6"/>
                <a:stretch>
                  <a:fillRect l="-585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6230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5CFDD-797C-D04D-1E57-0BFF392C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9B79BC-6D17-6A20-A9F0-F6711EF30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Trigger-Level Efficiency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AF8C3-6871-1C04-9AD8-E6E5D8E4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3A985F6D-542D-5DB6-FC8F-79271EB7FB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45094144"/>
                  </p:ext>
                </p:extLst>
              </p:nvPr>
            </p:nvGraphicFramePr>
            <p:xfrm>
              <a:off x="439737" y="1766294"/>
              <a:ext cx="819471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8678">
                      <a:extLst>
                        <a:ext uri="{9D8B030D-6E8A-4147-A177-3AD203B41FA5}">
                          <a16:colId xmlns:a16="http://schemas.microsoft.com/office/drawing/2014/main" val="1646354148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91111172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05431921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3348099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𝑺𝑪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Region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sHLT</a:t>
                          </a:r>
                          <a:r>
                            <a:rPr lang="en-US" dirty="0"/>
                            <a:t>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MVA-HLT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Efficiency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15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93.39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98.65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0317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81.27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95.20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108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86.24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96.70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6135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88.68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97.32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1021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3A985F6D-542D-5DB6-FC8F-79271EB7FB3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45094144"/>
                  </p:ext>
                </p:extLst>
              </p:nvPr>
            </p:nvGraphicFramePr>
            <p:xfrm>
              <a:off x="439737" y="1766294"/>
              <a:ext cx="819471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8678">
                      <a:extLst>
                        <a:ext uri="{9D8B030D-6E8A-4147-A177-3AD203B41FA5}">
                          <a16:colId xmlns:a16="http://schemas.microsoft.com/office/drawing/2014/main" val="1646354148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91111172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05431921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3348099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10345" r="-300617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sHLT</a:t>
                          </a:r>
                          <a:r>
                            <a:rPr lang="en-US" dirty="0"/>
                            <a:t>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MVA-HLT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Efficiency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15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93.39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98.65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0317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81.27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95.20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108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86.24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96.70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6135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88.68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97.32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1021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Content Placeholder 6">
                <a:extLst>
                  <a:ext uri="{FF2B5EF4-FFF2-40B4-BE49-F238E27FC236}">
                    <a16:creationId xmlns:a16="http://schemas.microsoft.com/office/drawing/2014/main" id="{A77A1A34-CA65-19C6-AD45-53CF0629375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9899921"/>
                  </p:ext>
                </p:extLst>
              </p:nvPr>
            </p:nvGraphicFramePr>
            <p:xfrm>
              <a:off x="439737" y="4562475"/>
              <a:ext cx="819471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8678">
                      <a:extLst>
                        <a:ext uri="{9D8B030D-6E8A-4147-A177-3AD203B41FA5}">
                          <a16:colId xmlns:a16="http://schemas.microsoft.com/office/drawing/2014/main" val="1646354148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91111172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05431921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3348099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𝑺𝑪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Region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sHLT</a:t>
                          </a:r>
                          <a:r>
                            <a:rPr lang="en-US" dirty="0"/>
                            <a:t>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MVA-HLT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Efficiency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15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91.01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98.90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0317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81.10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97.25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108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89.18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98.26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6135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88.45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98.45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1021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Content Placeholder 6">
                <a:extLst>
                  <a:ext uri="{FF2B5EF4-FFF2-40B4-BE49-F238E27FC236}">
                    <a16:creationId xmlns:a16="http://schemas.microsoft.com/office/drawing/2014/main" id="{A77A1A34-CA65-19C6-AD45-53CF0629375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9899921"/>
                  </p:ext>
                </p:extLst>
              </p:nvPr>
            </p:nvGraphicFramePr>
            <p:xfrm>
              <a:off x="439737" y="4562475"/>
              <a:ext cx="819471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8678">
                      <a:extLst>
                        <a:ext uri="{9D8B030D-6E8A-4147-A177-3AD203B41FA5}">
                          <a16:colId xmlns:a16="http://schemas.microsoft.com/office/drawing/2014/main" val="1646354148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91111172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05431921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3348099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6897" r="-300617" b="-4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sHLT</a:t>
                          </a:r>
                          <a:r>
                            <a:rPr lang="en-US" dirty="0"/>
                            <a:t>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MVA-HLT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Efficiency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15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91.01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98.90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0317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81.10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97.25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108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89.18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98.26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6135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88.45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98.45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+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1021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6CAD9A8-F9A9-ECD9-11BD-E790A2AE850D}"/>
              </a:ext>
            </a:extLst>
          </p:cNvPr>
          <p:cNvSpPr txBox="1"/>
          <p:nvPr/>
        </p:nvSpPr>
        <p:spPr>
          <a:xfrm>
            <a:off x="3352208" y="1243074"/>
            <a:ext cx="2369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Single Higgs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F1344-E584-CDC0-A633-12A41C300106}"/>
              </a:ext>
            </a:extLst>
          </p:cNvPr>
          <p:cNvSpPr txBox="1"/>
          <p:nvPr/>
        </p:nvSpPr>
        <p:spPr>
          <a:xfrm>
            <a:off x="3339979" y="4039255"/>
            <a:ext cx="2369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</a:rPr>
              <a:t>DiHiggs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A39D00-354A-986C-D1D1-D9BF2C83F63B}"/>
              </a:ext>
            </a:extLst>
          </p:cNvPr>
          <p:cNvSpPr txBox="1"/>
          <p:nvPr/>
        </p:nvSpPr>
        <p:spPr>
          <a:xfrm>
            <a:off x="8634448" y="1176360"/>
            <a:ext cx="35040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total signal efficiency gain is appreciable for both the single Higgs and </a:t>
            </a:r>
            <a:r>
              <a:rPr lang="en-US" dirty="0" err="1"/>
              <a:t>DiHiggs</a:t>
            </a:r>
            <a:r>
              <a:rPr lang="en-US" dirty="0"/>
              <a:t> MC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both cases, this accompanies a much lower trigger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So, the MVA-HLT is able to accept fewer data events overall, while still accepting more signal events. This will lead to an overall improvement to the signal purity of the data.</a:t>
            </a:r>
          </a:p>
        </p:txBody>
      </p:sp>
    </p:spTree>
    <p:extLst>
      <p:ext uri="{BB962C8B-B14F-4D97-AF65-F5344CB8AC3E}">
        <p14:creationId xmlns:p14="http://schemas.microsoft.com/office/powerpoint/2010/main" val="3510696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52723-387B-3429-17F1-FAE4512DA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111D28-F4FD-6717-0324-6EA74EAA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Development of a BDT-Based Offline Selection Optimized in Conjunction with the MVA-HLT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C51E4C-7A2D-68B9-1A3D-17AE30CCE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F630B-64F4-E21E-3B9C-7D4B1331B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16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0E7FF-2DF4-10B9-07A4-B46D80DDD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345822A-3CFB-481C-523A-BC26E8451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06" y="29722"/>
            <a:ext cx="10521818" cy="620517"/>
          </a:xfrm>
        </p:spPr>
        <p:txBody>
          <a:bodyPr>
            <a:normAutofit fontScale="90000"/>
          </a:bodyPr>
          <a:lstStyle/>
          <a:p>
            <a:r>
              <a:rPr lang="en-US" dirty="0"/>
              <a:t>Principles of the Offline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051FF-E632-AF49-18DF-F3F080FE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B26B1A5-325E-8980-04BE-486F655A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" y="1193556"/>
            <a:ext cx="12192909" cy="563472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HLT is primarily designed to reduce the overall data processing rate while preserving as many important signal events as possible.</a:t>
            </a:r>
          </a:p>
          <a:p>
            <a:endParaRPr lang="en-US" dirty="0"/>
          </a:p>
          <a:p>
            <a:r>
              <a:rPr lang="en-US" dirty="0"/>
              <a:t>Physics analysis and measurements occur after the HLT is applied to the data, when these samples are processed and final “offline selections” are applied to the events passing the trigger.</a:t>
            </a:r>
          </a:p>
          <a:p>
            <a:endParaRPr lang="en-US" dirty="0"/>
          </a:p>
          <a:p>
            <a:r>
              <a:rPr lang="en-US" dirty="0"/>
              <a:t>The HLT-level cuts are designed to mirror the eventual offline analysis cuts.</a:t>
            </a:r>
          </a:p>
          <a:p>
            <a:pPr lvl="1"/>
            <a:r>
              <a:rPr lang="en-US" dirty="0"/>
              <a:t>Due to improved reconstruction and corrections, the offline analysis cuts are designed to be tighter than the HLT cuts.</a:t>
            </a:r>
          </a:p>
          <a:p>
            <a:pPr lvl="1"/>
            <a:endParaRPr lang="en-US" dirty="0"/>
          </a:p>
          <a:p>
            <a:r>
              <a:rPr lang="en-US" dirty="0"/>
              <a:t>In order to leverage the gains made by the MVA-HLT, a new offline selection must be developed with a similarly high signal efficiency.</a:t>
            </a:r>
          </a:p>
          <a:p>
            <a:pPr lvl="1"/>
            <a:r>
              <a:rPr lang="en-US" dirty="0"/>
              <a:t>As with the Standard Analysis (SA) cuts and the </a:t>
            </a:r>
            <a:r>
              <a:rPr lang="en-US" dirty="0" err="1"/>
              <a:t>sHLT</a:t>
            </a:r>
            <a:r>
              <a:rPr lang="en-US" dirty="0"/>
              <a:t>, this new selection should be constructed on similar principles to the MVA-HLT.</a:t>
            </a:r>
          </a:p>
        </p:txBody>
      </p:sp>
    </p:spTree>
    <p:extLst>
      <p:ext uri="{BB962C8B-B14F-4D97-AF65-F5344CB8AC3E}">
        <p14:creationId xmlns:p14="http://schemas.microsoft.com/office/powerpoint/2010/main" val="2221833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08FDA-E78A-7744-EA14-5193B083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E05C39A9-3D01-6817-225D-D56A40E0D1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09406" y="29722"/>
                <a:ext cx="10521818" cy="620517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Offline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+jet BDT</a:t>
                </a:r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E05C39A9-3D01-6817-225D-D56A40E0D1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9406" y="29722"/>
                <a:ext cx="10521818" cy="620517"/>
              </a:xfrm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7B835-CCE4-4B61-42EC-EED66592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29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1771EA0-E014-CA34-B998-9F5CB2EF0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standard analysis (SA) cuts have historically employed loose cuts on a basic single photon BDT to reject poor photon candidates.</a:t>
                </a:r>
              </a:p>
              <a:p>
                <a:endParaRPr lang="en-US" dirty="0"/>
              </a:p>
              <a:p>
                <a:r>
                  <a:rPr lang="en-US" dirty="0"/>
                  <a:t>Hadronic “Jets” are a major source of background and must be cut out at the analysis level.</a:t>
                </a:r>
              </a:p>
              <a:p>
                <a:endParaRPr lang="en-US" dirty="0"/>
              </a:p>
              <a:p>
                <a:r>
                  <a:rPr lang="en-US" dirty="0"/>
                  <a:t>CMS has used real and fake photons from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+jet event to train </a:t>
                </a:r>
                <a:r>
                  <a:rPr lang="en-US" dirty="0" err="1"/>
                  <a:t>photonID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Train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(prompt) as signal, fake as background.</a:t>
                </a:r>
              </a:p>
              <a:p>
                <a:pPr lvl="2"/>
                <a:r>
                  <a:rPr lang="en-US" dirty="0"/>
                  <a:t>Fakes from jets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for example.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We have trained a new version of this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+jet BDT for the BDT-based offline analysis.</a:t>
                </a:r>
              </a:p>
              <a:p>
                <a:pPr lvl="1"/>
                <a:r>
                  <a:rPr lang="en-US" dirty="0"/>
                  <a:t>We use the same set of variables used to make the preselection cuts, just as we did for the MVA-HLT.</a:t>
                </a:r>
              </a:p>
              <a:p>
                <a:pPr lvl="1"/>
                <a:r>
                  <a:rPr lang="en-US" dirty="0"/>
                  <a:t>As with the MVA-HLT, the hyperparameters of this BDT were experimentally optimized to maximize the performance of the model on the selected sample.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1771EA0-E014-CA34-B998-9F5CB2EF0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  <a:blipFill>
                <a:blip r:embed="rId3"/>
                <a:stretch>
                  <a:fillRect l="-832" t="-2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378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B356A-55B1-6595-208E-5A2484AC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7897D2B6-70AE-3A9F-A23E-E4F36F977E0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+jet BDT Scores </a:t>
                </a:r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7897D2B6-70AE-3A9F-A23E-E4F36F977E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2AE03-EC70-731B-5847-85B88E7C7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8BFD42-FF9D-ED31-F3D9-CF475DF341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05765"/>
            <a:ext cx="5776906" cy="56225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A8AAEFC-24F9-C05A-AA9C-707E9FD123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05063" y="1193556"/>
                <a:ext cx="6594556" cy="563472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BDT scores of the Signal (Barrel and Endcap) and Data (Barrel and Endcap) are plotted together on a log plot.</a:t>
                </a:r>
              </a:p>
              <a:p>
                <a:endParaRPr lang="en-US" dirty="0"/>
              </a:p>
              <a:p>
                <a:r>
                  <a:rPr lang="en-US" dirty="0"/>
                  <a:t>Clearly, the signal MC has scores mostly near 1 (good).</a:t>
                </a:r>
              </a:p>
              <a:p>
                <a:endParaRPr lang="en-US" dirty="0"/>
              </a:p>
              <a:p>
                <a:r>
                  <a:rPr lang="en-US" dirty="0"/>
                  <a:t>The data, however, also has many scores near 1 (bad).</a:t>
                </a:r>
              </a:p>
              <a:p>
                <a:endParaRPr lang="en-US" dirty="0"/>
              </a:p>
              <a:p>
                <a:r>
                  <a:rPr lang="en-US" dirty="0"/>
                  <a:t>Since the data has many real photons in it,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+jet BDT cannot adequately reduce the acceptance of the data.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A8AAEFC-24F9-C05A-AA9C-707E9FD123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05063" y="1193556"/>
                <a:ext cx="6594556" cy="5634722"/>
              </a:xfrm>
              <a:blipFill>
                <a:blip r:embed="rId4"/>
                <a:stretch>
                  <a:fillRect l="-1731" t="-2477" r="-2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0343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D4EF4-E0EC-6851-1087-44E69095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BF8BAFD-8A5F-AD65-F00C-4D2BC98C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06" y="29722"/>
            <a:ext cx="10521818" cy="620517"/>
          </a:xfrm>
        </p:spPr>
        <p:txBody>
          <a:bodyPr>
            <a:normAutofit fontScale="90000"/>
          </a:bodyPr>
          <a:lstStyle/>
          <a:p>
            <a:r>
              <a:rPr lang="en-US" dirty="0"/>
              <a:t>Offline Data/MC BDT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69D49-DEDE-38CD-A716-1E6BC895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31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8C464D3-2901-CE2C-7A33-FFAE7E8A9E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While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+jet BDT is able to reject non-photon candidates from the final selection, it is not designed to positively identify real photons coming from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Additionally,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+jet BDT alone will not properly mirror the function of the MVA-HLT.</a:t>
                </a:r>
              </a:p>
              <a:p>
                <a:pPr lvl="1"/>
                <a:r>
                  <a:rPr lang="en-US" dirty="0"/>
                  <a:t>The MVA-HLT is trained using Higgs MC as signal and data events as background.		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These two issues suggest the creation of a new BDT trained on Higgs MC and Data.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8C464D3-2901-CE2C-7A33-FFAE7E8A9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  <a:blipFill>
                <a:blip r:embed="rId2"/>
                <a:stretch>
                  <a:fillRect l="-937" t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225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7BBE-8AAE-CCAF-6AEF-0AF5C7291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5AC046C-F999-0B7C-C3FB-90573C57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H Data/MC BDT Scores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476A7-9F3D-82C5-E4DD-1F087493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4D930B-B9AB-771F-F28A-18B7DBFC75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05765"/>
            <a:ext cx="5776906" cy="56225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86918C7D-7894-D35A-8E30-E710DA950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05063" y="1193556"/>
                <a:ext cx="6594556" cy="56347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Data/MC shows the opposite issue to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+jet BDT; while the data is very well-localized near 0, there is still a lot of signal given a score close to 0.</a:t>
                </a:r>
              </a:p>
              <a:p>
                <a:endParaRPr lang="en-US" dirty="0"/>
              </a:p>
              <a:p>
                <a:r>
                  <a:rPr lang="en-US" dirty="0"/>
                  <a:t>Cutting too tight on this score will significantly reduce the signal efficiency.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86918C7D-7894-D35A-8E30-E710DA950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05063" y="1193556"/>
                <a:ext cx="6594556" cy="5634722"/>
              </a:xfrm>
              <a:blipFill>
                <a:blip r:embed="rId3"/>
                <a:stretch>
                  <a:fillRect l="-1731" t="-2027" r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966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17A46-C120-94C2-BC25-21170BFA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0DD642A-9E74-D51C-697D-584A2856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Higgs Loose Single Photon BDT Cuts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4594C14-4755-DDA1-D31C-7D5D3735F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AB0BB-43B9-A561-6A4F-3A0DBCE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EBFE9C-A102-3415-1BD8-D70E3FA1C1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10404" y="1240816"/>
            <a:ext cx="4652732" cy="45283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0F2EF4-C59C-A7AC-770C-61A8FEFF0142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CC450D-0252-CDDE-0071-698334B7E2BE}"/>
              </a:ext>
            </a:extLst>
          </p:cNvPr>
          <p:cNvSpPr txBox="1"/>
          <p:nvPr/>
        </p:nvSpPr>
        <p:spPr>
          <a:xfrm>
            <a:off x="8913656" y="1176360"/>
            <a:ext cx="32248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of tight cuts on the single photon BDT scores, </a:t>
            </a:r>
            <a:r>
              <a:rPr lang="en-US" dirty="0">
                <a:solidFill>
                  <a:schemeClr val="accent1"/>
                </a:solidFill>
              </a:rPr>
              <a:t>very loose cuts </a:t>
            </a:r>
            <a:r>
              <a:rPr lang="en-US" dirty="0"/>
              <a:t>can be applied to significantly reduce the data rate while still keeping the signal efficiency very high (&gt;98%).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6716E3-2155-BD02-E631-BE49139C5C41}"/>
              </a:ext>
            </a:extLst>
          </p:cNvPr>
          <p:cNvSpPr txBox="1"/>
          <p:nvPr/>
        </p:nvSpPr>
        <p:spPr>
          <a:xfrm>
            <a:off x="1014099" y="714695"/>
            <a:ext cx="26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725CFC96-DB02-CE52-07EC-4E34B84DD8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40816"/>
            <a:ext cx="4652735" cy="4538748"/>
          </a:xfrm>
          <a:prstGeom prst="rect">
            <a:avLst/>
          </a:prstGeom>
        </p:spPr>
      </p:pic>
      <p:pic>
        <p:nvPicPr>
          <p:cNvPr id="6" name="Content Placeholder 10">
            <a:extLst>
              <a:ext uri="{FF2B5EF4-FFF2-40B4-BE49-F238E27FC236}">
                <a16:creationId xmlns:a16="http://schemas.microsoft.com/office/drawing/2014/main" id="{1D22A363-FFC1-EB11-41FD-8045ADC6F7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1251179"/>
            <a:ext cx="4652735" cy="45283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9DBED3-A34C-3442-635A-D3C0CF387BFA}"/>
              </a:ext>
            </a:extLst>
          </p:cNvPr>
          <p:cNvSpPr txBox="1"/>
          <p:nvPr/>
        </p:nvSpPr>
        <p:spPr>
          <a:xfrm>
            <a:off x="230345" y="5779565"/>
            <a:ext cx="8683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Compared to the single photon </a:t>
            </a:r>
            <a:r>
              <a:rPr lang="en-US" dirty="0">
                <a:solidFill>
                  <a:srgbClr val="FFFF00"/>
                </a:solidFill>
              </a:rPr>
              <a:t>Preselection </a:t>
            </a:r>
            <a:r>
              <a:rPr lang="en-US" dirty="0"/>
              <a:t>and full </a:t>
            </a:r>
            <a:r>
              <a:rPr lang="en-US" dirty="0">
                <a:solidFill>
                  <a:schemeClr val="accent2"/>
                </a:solidFill>
              </a:rPr>
              <a:t>Standard Analysis (SA) cuts</a:t>
            </a:r>
            <a:r>
              <a:rPr lang="en-US" dirty="0"/>
              <a:t>, these </a:t>
            </a:r>
            <a:r>
              <a:rPr lang="en-US" dirty="0">
                <a:solidFill>
                  <a:schemeClr val="accent1"/>
                </a:solidFill>
              </a:rPr>
              <a:t>loose single photon cuts </a:t>
            </a:r>
            <a:r>
              <a:rPr lang="en-US" dirty="0"/>
              <a:t>have much higher signal efficiency but also accept more background. </a:t>
            </a:r>
          </a:p>
        </p:txBody>
      </p:sp>
    </p:spTree>
    <p:extLst>
      <p:ext uri="{BB962C8B-B14F-4D97-AF65-F5344CB8AC3E}">
        <p14:creationId xmlns:p14="http://schemas.microsoft.com/office/powerpoint/2010/main" val="1681792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5A3F6-1075-2790-83A4-4EFA551C6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2BE18B96-2DD3-55DB-5F58-F2A16F6316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 err="1"/>
                  <a:t>DiHiggs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+jet BDT Scores </a:t>
                </a:r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2BE18B96-2DD3-55DB-5F58-F2A16F6316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2642A-B5DA-8F9B-315D-CF27FA8A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B8F072-7383-46C5-3A85-AF69857D0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05765"/>
            <a:ext cx="5776906" cy="56225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103965BE-5B93-898D-E2BB-0B40BE9899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05063" y="1193556"/>
                <a:ext cx="6594556" cy="56347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+jet BDT actually shows better separation for the </a:t>
                </a:r>
                <a:r>
                  <a:rPr lang="en-US" dirty="0" err="1"/>
                  <a:t>DiHiggs</a:t>
                </a:r>
                <a:r>
                  <a:rPr lang="en-US" dirty="0"/>
                  <a:t> than it did for the single Higgs.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103965BE-5B93-898D-E2BB-0B40BE9899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05063" y="1193556"/>
                <a:ext cx="6594556" cy="5634722"/>
              </a:xfrm>
              <a:blipFill>
                <a:blip r:embed="rId4"/>
                <a:stretch>
                  <a:fillRect l="-1731" t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3418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A9C0-B012-B0CF-657F-A144820E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6CDED-EB94-2E9E-87D3-9380C5B6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DiHiggs</a:t>
            </a:r>
            <a:r>
              <a:rPr lang="en-US" dirty="0"/>
              <a:t> Data/MC BDT Scores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54135-0A97-472D-DB1F-EC460407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49A445-C472-FA71-6B69-401CA569B2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05765"/>
            <a:ext cx="5776906" cy="5622512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B1BF5B2-4842-B344-9091-08CD320B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5063" y="1193556"/>
            <a:ext cx="6594556" cy="5634722"/>
          </a:xfrm>
        </p:spPr>
        <p:txBody>
          <a:bodyPr>
            <a:normAutofit/>
          </a:bodyPr>
          <a:lstStyle/>
          <a:p>
            <a:r>
              <a:rPr lang="en-US" dirty="0"/>
              <a:t>Since the Data/MC BDT is trained using a specific signal MC sample, a new version was trained here for the </a:t>
            </a:r>
            <a:r>
              <a:rPr lang="en-US" dirty="0" err="1"/>
              <a:t>DiHiggs</a:t>
            </a:r>
            <a:r>
              <a:rPr lang="en-US" dirty="0"/>
              <a:t> signal MC.</a:t>
            </a:r>
          </a:p>
          <a:p>
            <a:endParaRPr lang="en-US" dirty="0"/>
          </a:p>
          <a:p>
            <a:r>
              <a:rPr lang="en-US" dirty="0"/>
              <a:t>This BDT seems to perform a bit better than the single Higgs version, with more signal approaching a score of 1.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81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F84D-5963-04AF-6FB4-A1BE1B46E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A9A8149-F33D-D8A7-DF96-95DABEF40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DiHiggs</a:t>
            </a:r>
            <a:r>
              <a:rPr lang="en-US" dirty="0"/>
              <a:t> Loose Single Photon BDT Cuts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3DC4079-26C3-5A82-0615-064D47F7F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F0FCE-EB16-3DF6-4753-99F6434B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22813C-CF7C-E320-BF49-0A9C78F1B2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10404" y="1240816"/>
            <a:ext cx="4652732" cy="45283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4DE8205-A8AD-1B04-30B3-8F9B56443B49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E4A314-FC56-F2AE-C978-2AF8EC594FD5}"/>
              </a:ext>
            </a:extLst>
          </p:cNvPr>
          <p:cNvSpPr txBox="1"/>
          <p:nvPr/>
        </p:nvSpPr>
        <p:spPr>
          <a:xfrm>
            <a:off x="1014099" y="714695"/>
            <a:ext cx="26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2D03CAF2-1280-89CF-1153-083E158934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40816"/>
            <a:ext cx="4652735" cy="4538748"/>
          </a:xfrm>
          <a:prstGeom prst="rect">
            <a:avLst/>
          </a:prstGeom>
        </p:spPr>
      </p:pic>
      <p:pic>
        <p:nvPicPr>
          <p:cNvPr id="6" name="Content Placeholder 10">
            <a:extLst>
              <a:ext uri="{FF2B5EF4-FFF2-40B4-BE49-F238E27FC236}">
                <a16:creationId xmlns:a16="http://schemas.microsoft.com/office/drawing/2014/main" id="{3DB2CF8B-0FE7-762D-1604-4D207594F8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" y="1245997"/>
            <a:ext cx="4652734" cy="45283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326C1B-57CA-8BDD-8931-8FF31FA7E3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10404" y="1245999"/>
            <a:ext cx="4652732" cy="45283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04CF2DE-E391-106E-9ED4-F449D4241D02}"/>
              </a:ext>
            </a:extLst>
          </p:cNvPr>
          <p:cNvSpPr txBox="1"/>
          <p:nvPr/>
        </p:nvSpPr>
        <p:spPr>
          <a:xfrm>
            <a:off x="8913656" y="1176360"/>
            <a:ext cx="32248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of tight cuts on the single photon BDT scores, </a:t>
            </a:r>
            <a:r>
              <a:rPr lang="en-US" dirty="0">
                <a:solidFill>
                  <a:schemeClr val="accent1"/>
                </a:solidFill>
              </a:rPr>
              <a:t>very loose cuts </a:t>
            </a:r>
            <a:r>
              <a:rPr lang="en-US" dirty="0"/>
              <a:t>can be applied to significantly reduce the data rate while still keeping the signal efficiency very high (&gt;98%).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61BE5-32A8-7849-64C3-CA13E736BFD7}"/>
              </a:ext>
            </a:extLst>
          </p:cNvPr>
          <p:cNvSpPr txBox="1"/>
          <p:nvPr/>
        </p:nvSpPr>
        <p:spPr>
          <a:xfrm>
            <a:off x="230345" y="5779565"/>
            <a:ext cx="8683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Compared to the single photon </a:t>
            </a:r>
            <a:r>
              <a:rPr lang="en-US" dirty="0">
                <a:solidFill>
                  <a:srgbClr val="FFFF00"/>
                </a:solidFill>
              </a:rPr>
              <a:t>Preselection </a:t>
            </a:r>
            <a:r>
              <a:rPr lang="en-US" dirty="0"/>
              <a:t>and full </a:t>
            </a:r>
            <a:r>
              <a:rPr lang="en-US" dirty="0">
                <a:solidFill>
                  <a:schemeClr val="accent2"/>
                </a:solidFill>
              </a:rPr>
              <a:t>Standard Analysis (SA) cuts</a:t>
            </a:r>
            <a:r>
              <a:rPr lang="en-US" dirty="0"/>
              <a:t>, these </a:t>
            </a:r>
            <a:r>
              <a:rPr lang="en-US" dirty="0">
                <a:solidFill>
                  <a:schemeClr val="accent1"/>
                </a:solidFill>
              </a:rPr>
              <a:t>loose single photon cuts </a:t>
            </a:r>
            <a:r>
              <a:rPr lang="en-US" dirty="0"/>
              <a:t>have much higher signal efficiency but also accept more background. </a:t>
            </a:r>
          </a:p>
        </p:txBody>
      </p:sp>
    </p:spTree>
    <p:extLst>
      <p:ext uri="{BB962C8B-B14F-4D97-AF65-F5344CB8AC3E}">
        <p14:creationId xmlns:p14="http://schemas.microsoft.com/office/powerpoint/2010/main" val="3542931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6FA5A-0E52-87A0-3952-9E7D16E35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3AE9B8A-C1DF-95AF-16F2-1AF211F7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06" y="29722"/>
            <a:ext cx="10521818" cy="620517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Analysis Strategy – a Diphoton BDT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27140-70D4-7D65-A9F6-356AE41A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37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C77E808D-C008-72A3-AE0D-AB6197DC4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So far, both offline BDTs developed have been for selecting individual photon candidates.</a:t>
                </a:r>
              </a:p>
              <a:p>
                <a:endParaRPr lang="en-US" dirty="0"/>
              </a:p>
              <a:p>
                <a:r>
                  <a:rPr lang="en-US" dirty="0"/>
                  <a:t>The SA cuts, however, make cuts on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r>
                  <a:rPr lang="en-US" dirty="0"/>
                  <a:t>, which is a diphoton quantity.</a:t>
                </a:r>
              </a:p>
              <a:p>
                <a:endParaRPr lang="en-US" dirty="0"/>
              </a:p>
              <a:p>
                <a:r>
                  <a:rPr lang="en-US" dirty="0"/>
                  <a:t>This suggests the creation of a BDT that uses information from both photons together to select events instead of individual photons – a diphoton BDT.</a:t>
                </a:r>
              </a:p>
              <a:p>
                <a:endParaRPr lang="en-US" dirty="0"/>
              </a:p>
              <a:p>
                <a:r>
                  <a:rPr lang="en-US" dirty="0"/>
                  <a:t>Run 2 analyses at CMS made use of a diphoton BDT for event categorization, so this marks a good starting point for the fully BDT-based approach.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C77E808D-C008-72A3-AE0D-AB6197DC4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  <a:blipFill>
                <a:blip r:embed="rId2"/>
                <a:stretch>
                  <a:fillRect l="-937" t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026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496A-1DA5-48C7-F3F7-91065F55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3DAE1A5-0E59-2AEB-0AD0-231001996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 H Diphoton BDT Scores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B3DCB-B278-8396-5258-D55FBEE3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B35849-745F-4F64-B911-1129AFFE0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05765"/>
            <a:ext cx="5776906" cy="562251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C0D26BE-FD5D-5D8B-F423-070DFBD09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5063" y="1193556"/>
            <a:ext cx="6594556" cy="5634722"/>
          </a:xfrm>
        </p:spPr>
        <p:txBody>
          <a:bodyPr>
            <a:normAutofit/>
          </a:bodyPr>
          <a:lstStyle/>
          <a:p>
            <a:r>
              <a:rPr lang="en-US" dirty="0"/>
              <a:t>Much better separation between signal and data can be seen for the diphoton BDT than either single photon BDT.</a:t>
            </a:r>
          </a:p>
          <a:p>
            <a:endParaRPr lang="en-US" dirty="0"/>
          </a:p>
          <a:p>
            <a:r>
              <a:rPr lang="en-US" dirty="0"/>
              <a:t>A very loose cut on this score can clearly reduce the data rate considerably while still minimizing the loss of signal efficiency.</a:t>
            </a:r>
          </a:p>
          <a:p>
            <a:endParaRPr lang="en-US" dirty="0"/>
          </a:p>
          <a:p>
            <a:r>
              <a:rPr lang="en-US" dirty="0"/>
              <a:t>This new strategy leverages both single photon and diphoton information, mirroring the SA selection.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6231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4A8F8-BD3D-AB05-5F53-46A8F281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F145D6-848A-6B4D-3A61-9E674068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DiHiggs</a:t>
            </a:r>
            <a:r>
              <a:rPr lang="en-US" dirty="0"/>
              <a:t> Diphoton BDT Scores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816EC-AF8B-8EB6-0696-3E3EB342C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55959-1B89-EEAF-C618-78A17D6418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205765"/>
            <a:ext cx="5776906" cy="562251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69BE31-12B5-5FC1-247E-D5D62AFC4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5063" y="1193556"/>
            <a:ext cx="6594556" cy="5634722"/>
          </a:xfrm>
        </p:spPr>
        <p:txBody>
          <a:bodyPr>
            <a:normAutofit/>
          </a:bodyPr>
          <a:lstStyle/>
          <a:p>
            <a:r>
              <a:rPr lang="en-US" dirty="0"/>
              <a:t>The separation for the </a:t>
            </a:r>
            <a:r>
              <a:rPr lang="en-US" dirty="0" err="1"/>
              <a:t>DiHiggs</a:t>
            </a:r>
            <a:r>
              <a:rPr lang="en-US" dirty="0"/>
              <a:t> is in fact considerably better than that of the single Higgs.</a:t>
            </a:r>
          </a:p>
          <a:p>
            <a:endParaRPr lang="en-US" dirty="0"/>
          </a:p>
          <a:p>
            <a:r>
              <a:rPr lang="en-US" dirty="0"/>
              <a:t>A very high signal efficiency is expected from cuts on this BDT score.</a:t>
            </a:r>
          </a:p>
        </p:txBody>
      </p:sp>
    </p:spTree>
    <p:extLst>
      <p:ext uri="{BB962C8B-B14F-4D97-AF65-F5344CB8AC3E}">
        <p14:creationId xmlns:p14="http://schemas.microsoft.com/office/powerpoint/2010/main" val="14391556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D37DF-6528-B4D2-B0EC-78081B7A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49281929-D039-4A19-DBEA-453B4417864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Full Offline Selection Results for</a:t>
                </a:r>
                <a:br>
                  <a:rPr lang="en-US" b="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𝐻𝐻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49281929-D039-4A19-DBEA-453B44178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62" r="-362" b="-14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CB4AD2-E525-830A-B10E-CE24D52F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E2B9D-1587-AEFA-B147-D905C77E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006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312B-B274-CFE6-C240-42F7E1B8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319D98C0-63A5-7D6E-822E-51953F5EFD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319D98C0-63A5-7D6E-822E-51953F5EFD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73B4C92-18E4-B066-650C-2F24D63B5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B9470-46C3-6C7A-FD12-A25F8BF1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0A0955-A022-6930-2EA1-BA47C5D3FC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3" cy="45283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5F5713D-CAA3-4C40-B95E-AD04848EFCA5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0AD328-F445-2DF2-E613-8DD2B6FC4EEB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050C43-7440-F8EA-7938-AF7CB4DEA221}"/>
              </a:ext>
            </a:extLst>
          </p:cNvPr>
          <p:cNvSpPr txBox="1"/>
          <p:nvPr/>
        </p:nvSpPr>
        <p:spPr>
          <a:xfrm>
            <a:off x="8913656" y="1176360"/>
            <a:ext cx="322483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compare to the </a:t>
            </a:r>
            <a:r>
              <a:rPr lang="en-US" dirty="0">
                <a:solidFill>
                  <a:schemeClr val="accent2"/>
                </a:solidFill>
              </a:rPr>
              <a:t>Standard Analysis </a:t>
            </a:r>
            <a:r>
              <a:rPr lang="en-US" dirty="0"/>
              <a:t>and </a:t>
            </a:r>
            <a:r>
              <a:rPr lang="en-US" dirty="0">
                <a:solidFill>
                  <a:srgbClr val="FFFF00"/>
                </a:solidFill>
              </a:rPr>
              <a:t>Preselection </a:t>
            </a:r>
            <a:r>
              <a:rPr lang="en-US" dirty="0"/>
              <a:t>cuts, diphoton BDT cuts must be chosen and optimized.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Loosest cuts </a:t>
            </a:r>
            <a:r>
              <a:rPr lang="en-US" dirty="0"/>
              <a:t>accept 2x as much background as the 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Standard Selection </a:t>
            </a:r>
            <a:r>
              <a:rPr lang="en-US" dirty="0"/>
              <a:t>cuts accept the same amount of background as the 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Tightest cuts </a:t>
            </a:r>
            <a:r>
              <a:rPr lang="en-US" dirty="0"/>
              <a:t>accept ½ as much background as the 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cuts are chosen as an example of an analysis strategy that preserves high signal efficiency, but each analysis has freedom to </a:t>
            </a:r>
            <a:r>
              <a:rPr lang="en-US"/>
              <a:t>chose their own cuts.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A3998E-1B6B-6945-D524-273C19F45D7B}"/>
              </a:ext>
            </a:extLst>
          </p:cNvPr>
          <p:cNvSpPr txBox="1"/>
          <p:nvPr/>
        </p:nvSpPr>
        <p:spPr>
          <a:xfrm>
            <a:off x="230345" y="5779565"/>
            <a:ext cx="8683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the same amount of background, the BDT-Based selection achieves a 29.4% gain in signal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background mass distribution is affected by the SA cuts.  </a:t>
            </a:r>
          </a:p>
        </p:txBody>
      </p:sp>
    </p:spTree>
    <p:extLst>
      <p:ext uri="{BB962C8B-B14F-4D97-AF65-F5344CB8AC3E}">
        <p14:creationId xmlns:p14="http://schemas.microsoft.com/office/powerpoint/2010/main" val="24845195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21C51-AE89-9648-25BB-C6CD1C028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26F7F34-AC8F-F109-BC64-D245D57036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26F7F34-AC8F-F109-BC64-D245D57036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CA28F72-E610-D7F5-C028-B0FC0BEF1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701F8-DFC2-C4A5-117C-61198B93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A9CABC-0B9B-F66E-67FE-C01AE4A78C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3" cy="45283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7F1436-0FA1-1409-B608-730F9D80DEDD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B7A0D-FB2B-CFDF-1BE2-BE1CEA0B3986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A2E2D4-FAE2-7E13-D0F6-73663479AE88}"/>
              </a:ext>
            </a:extLst>
          </p:cNvPr>
          <p:cNvSpPr txBox="1"/>
          <p:nvPr/>
        </p:nvSpPr>
        <p:spPr>
          <a:xfrm>
            <a:off x="8913656" y="1176360"/>
            <a:ext cx="32248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signal efficiency and data acceptance can be measured as the percent of the “All” curve accepted by each of the selections.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086591-DC9D-4DD9-298D-213472BF1C1A}"/>
              </a:ext>
            </a:extLst>
          </p:cNvPr>
          <p:cNvSpPr txBox="1"/>
          <p:nvPr/>
        </p:nvSpPr>
        <p:spPr>
          <a:xfrm>
            <a:off x="230345" y="5779565"/>
            <a:ext cx="8683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overall efficiency of the signal is higher throughout the whole mass range for the BDT-cuts compared to both the preselection and the SA cuts.</a:t>
            </a:r>
          </a:p>
        </p:txBody>
      </p:sp>
    </p:spTree>
    <p:extLst>
      <p:ext uri="{BB962C8B-B14F-4D97-AF65-F5344CB8AC3E}">
        <p14:creationId xmlns:p14="http://schemas.microsoft.com/office/powerpoint/2010/main" val="2527281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F6BD-722E-30D0-FA8C-A2F4F8585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3A7535F4-249A-B3A9-C50F-AE2B053B92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3A7535F4-249A-B3A9-C50F-AE2B053B9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DD5B055-D1BD-03B2-52CD-56762DC43D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4CC61-CE64-8137-6A68-AE3BD544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F34085-C59B-2B5D-174A-C0AE6AD2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3" cy="45283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0CD41F-6E7E-3E89-430E-914D6C7CECAD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71C36A-CEF1-D76D-0369-383F8D78CE91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E991F-4296-9C92-D13D-9C1E7B9CCC93}"/>
              </a:ext>
            </a:extLst>
          </p:cNvPr>
          <p:cNvSpPr txBox="1"/>
          <p:nvPr/>
        </p:nvSpPr>
        <p:spPr>
          <a:xfrm>
            <a:off x="8913656" y="1176360"/>
            <a:ext cx="32248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with the </a:t>
            </a:r>
            <a:r>
              <a:rPr lang="en-US" dirty="0" err="1"/>
              <a:t>sHLT</a:t>
            </a:r>
            <a:r>
              <a:rPr lang="en-US" dirty="0"/>
              <a:t>, the </a:t>
            </a:r>
            <a:r>
              <a:rPr lang="en-US" dirty="0" err="1"/>
              <a:t>presel</a:t>
            </a:r>
            <a:r>
              <a:rPr lang="en-US" dirty="0"/>
              <a:t> and SA cuts reduce the efficiency of the signal at the lower-eta region of the endcap.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BDT-based selections all tend to accept less data in the higher-eta region of the endcap.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CDE369-581B-F99F-CA19-572F87B0D11A}"/>
              </a:ext>
            </a:extLst>
          </p:cNvPr>
          <p:cNvSpPr txBox="1"/>
          <p:nvPr/>
        </p:nvSpPr>
        <p:spPr>
          <a:xfrm>
            <a:off x="230345" y="5779565"/>
            <a:ext cx="8683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addition to the overall improvement to signal efficiency, the kinematic coverage is improved by the BDT-based offline selection.</a:t>
            </a:r>
          </a:p>
        </p:txBody>
      </p:sp>
    </p:spTree>
    <p:extLst>
      <p:ext uri="{BB962C8B-B14F-4D97-AF65-F5344CB8AC3E}">
        <p14:creationId xmlns:p14="http://schemas.microsoft.com/office/powerpoint/2010/main" val="23541611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19180-6F59-9B97-957B-133AF4E23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BC6BD22-51C3-0F88-A1EE-FC4B37869D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BC6BD22-51C3-0F88-A1EE-FC4B37869D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92E4E71-CA74-E218-6FC1-8759F98CC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508A7-239C-3D9E-2678-6A07DFEE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6EF45D-F280-B8D5-1E2F-135C909E42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2" cy="45283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8CB565-68EF-4865-DDE4-C71035E082A4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9196C7-B439-7464-34D0-A43AF7D3B52B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AEFD2E-8526-E8BC-3E56-60C897AC5D02}"/>
              </a:ext>
            </a:extLst>
          </p:cNvPr>
          <p:cNvSpPr txBox="1"/>
          <p:nvPr/>
        </p:nvSpPr>
        <p:spPr>
          <a:xfrm>
            <a:off x="8913656" y="1176360"/>
            <a:ext cx="3224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inefficiencies of the SA cuts are clearer 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262057-4F45-C3C8-48AB-3CBF5D276100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BDT-based selection keeps relatively flat efficiency throughout the selected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r>
                  <a:rPr lang="en-US" dirty="0"/>
                  <a:t> range.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262057-4F45-C3C8-48AB-3CBF5D276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646331"/>
              </a:xfrm>
              <a:prstGeom prst="rect">
                <a:avLst/>
              </a:prstGeom>
              <a:blipFill>
                <a:blip r:embed="rId5"/>
                <a:stretch>
                  <a:fillRect l="-585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092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F7E6E-0EA1-DDA3-24B0-2A21C82D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5DAB402-E5EA-6CC1-B785-F308D08FCBD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5DAB402-E5EA-6CC1-B785-F308D08FCB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7276FF5-FB92-8A83-A601-DBCB98828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139BA-4B2B-F652-2B62-89E0E1EE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53785C-5CF9-1969-F0B0-0D56C697C0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2" cy="45283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406680-51FB-2F16-733C-9CA1B0310795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46BFFD-1661-B97F-FEB4-D113DD4E2F70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55B3CE-13CF-85FD-558C-690F8D650FBA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1499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The SA cuts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helpful for controlling the background, but also clearly reduce the signal efficiency considerably.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55B3CE-13CF-85FD-558C-690F8D650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1499513"/>
              </a:xfrm>
              <a:prstGeom prst="rect">
                <a:avLst/>
              </a:prstGeom>
              <a:blipFill>
                <a:blip r:embed="rId5"/>
                <a:stretch>
                  <a:fillRect l="-1176" t="-168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B9433A-4CF0-80D0-31D5-F52322328E42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945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By using the diphoton BDT scores instead of hard cuts on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r>
                  <a:rPr lang="en-US" dirty="0"/>
                  <a:t>, the BDT-based approach is able to further Improve the kinematic coverage of the offline selection.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B9433A-4CF0-80D0-31D5-F52322328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945515"/>
              </a:xfrm>
              <a:prstGeom prst="rect">
                <a:avLst/>
              </a:prstGeom>
              <a:blipFill>
                <a:blip r:embed="rId6"/>
                <a:stretch>
                  <a:fillRect l="-585"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6033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56698-BAC3-3D46-B320-71371C104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13AB6BC5-11FB-31BA-EE21-5CC82E99E28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13AB6BC5-11FB-31BA-EE21-5CC82E99E2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EDB41AD-F216-DA64-79BC-837325FA5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15696-EB04-FA6F-8BE5-8FA9F544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2B3824-D508-6ECA-7C94-0BAA669792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2" cy="45283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41EBEB-0762-29DE-B8C9-625F8575FC2A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FAC9A0-21D9-B85F-1867-18C82FBBF078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CE182-0214-0785-25CC-336833E0C300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2053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dirty="0" err="1"/>
                  <a:t>Presel</a:t>
                </a:r>
                <a:r>
                  <a:rPr lang="en-US" dirty="0"/>
                  <a:t> and SA cuts both reject not only low-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r>
                  <a:rPr lang="en-US" dirty="0"/>
                  <a:t> photons, but also reduce the efficiency at higher values.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2CE182-0214-0785-25CC-336833E0C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2053511"/>
              </a:xfrm>
              <a:prstGeom prst="rect">
                <a:avLst/>
              </a:prstGeom>
              <a:blipFill>
                <a:blip r:embed="rId5"/>
                <a:stretch>
                  <a:fillRect l="-1176" t="-1227" r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19AC3E-5DE4-120A-8A50-080FF441B019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efficiency of the BDT-based approach is relatively flat above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r>
                  <a:rPr lang="en-US" dirty="0"/>
                  <a:t> = 0.4.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19AC3E-5DE4-120A-8A50-080FF441B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668516"/>
              </a:xfrm>
              <a:prstGeom prst="rect">
                <a:avLst/>
              </a:prstGeom>
              <a:blipFill>
                <a:blip r:embed="rId6"/>
                <a:stretch>
                  <a:fillRect l="-585" t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5126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E9357-6CA9-B6DC-8280-B9EBC3B3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99B472C3-AF2B-F8F4-C801-3AC0B7BEF4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Diphoton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99B472C3-AF2B-F8F4-C801-3AC0B7BEF4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04888C6-FB80-B1F9-AF4A-B4923274B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814C9-35D1-3EA7-19B9-0CAE5F28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9E5A79-36BC-3A5A-1604-52BDE108EA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2" cy="45283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B29A33-40F4-9346-AC65-E867805048D0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453BE7-302F-A3E8-FC6D-1C0F967561C0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810025-D2F7-6437-ABB6-B44029834131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 the single Higgs sample, the diphoton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of the signal MC is relatively similar to that of the data.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This variable will be more interesting for the </a:t>
                </a:r>
                <a:r>
                  <a:rPr lang="en-US" dirty="0" err="1"/>
                  <a:t>DiHiggs</a:t>
                </a:r>
                <a:r>
                  <a:rPr lang="en-US" dirty="0"/>
                  <a:t> sample.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810025-D2F7-6437-ABB6-B44029834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2862322"/>
              </a:xfrm>
              <a:prstGeom prst="rect">
                <a:avLst/>
              </a:prstGeom>
              <a:blipFill>
                <a:blip r:embed="rId5"/>
                <a:stretch>
                  <a:fillRect l="-1176" t="-881" r="-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9C5F00-DE76-7FB8-383A-B0F53E7E596E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Neither set of selections noticeably leverages the single Higgs diphoton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to make a selection.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9C5F00-DE76-7FB8-383A-B0F53E7E5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1200329"/>
              </a:xfrm>
              <a:prstGeom prst="rect">
                <a:avLst/>
              </a:prstGeom>
              <a:blipFill>
                <a:blip r:embed="rId6"/>
                <a:stretch>
                  <a:fillRect l="-585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0476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7DF5B-04BD-0F0B-F19E-E83CE5ACD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A5C19BB7-7F5D-0BB5-944A-95F18569EC0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Single Higgs Diphoton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A5C19BB7-7F5D-0BB5-944A-95F18569EC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579308C-DCE4-B23A-B970-80923C897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78DA3-A7AC-717E-2F5F-291CC288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97B0C8-DF11-8A2E-0F2C-EBE4F30939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1" cy="45283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8CFB6E-85E8-A395-61DB-AD7E0ECD20EA}"/>
              </a:ext>
            </a:extLst>
          </p:cNvPr>
          <p:cNvSpPr txBox="1"/>
          <p:nvPr/>
        </p:nvSpPr>
        <p:spPr>
          <a:xfrm>
            <a:off x="1286341" y="714695"/>
            <a:ext cx="2275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Higgs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807B44-D344-A86B-D6AF-1B5C66959E8E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51128A-6099-6CA3-5389-25E87309119F}"/>
              </a:ext>
            </a:extLst>
          </p:cNvPr>
          <p:cNvSpPr txBox="1"/>
          <p:nvPr/>
        </p:nvSpPr>
        <p:spPr>
          <a:xfrm>
            <a:off x="8913656" y="1176360"/>
            <a:ext cx="3224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AD0B3E-FEAF-317F-FE88-A9D75565FD18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Again, the BDT-based selection has a flatter efficiency across the whole range of diphoton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AD0B3E-FEAF-317F-FE88-A9D75565F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923330"/>
              </a:xfrm>
              <a:prstGeom prst="rect">
                <a:avLst/>
              </a:prstGeom>
              <a:blipFill>
                <a:blip r:embed="rId5"/>
                <a:stretch>
                  <a:fillRect l="-585" t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49300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62F85-4C3C-6585-FAD5-0310656FD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FB0E3D42-88A9-C9FD-46A0-57A81682136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 err="1"/>
                  <a:t>DiHiggs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FB0E3D42-88A9-C9FD-46A0-57A816821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A4F1FC3-E70F-3BC8-5EE6-CDD11B302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0B9D3-5D0C-19EA-5B23-DDCE4CD3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8DA195-6476-1EC6-D486-9BDDF634FA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3" cy="45283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A8C8E2-B390-74B7-9690-31BFFFF33EB2}"/>
              </a:ext>
            </a:extLst>
          </p:cNvPr>
          <p:cNvSpPr txBox="1"/>
          <p:nvPr/>
        </p:nvSpPr>
        <p:spPr>
          <a:xfrm>
            <a:off x="1014098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8EA36A-681F-D8CB-1317-FCBFABDE0F7A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31601E-C739-7F5B-70C0-B57BB9115B07}"/>
              </a:ext>
            </a:extLst>
          </p:cNvPr>
          <p:cNvSpPr txBox="1"/>
          <p:nvPr/>
        </p:nvSpPr>
        <p:spPr>
          <a:xfrm>
            <a:off x="8913656" y="1176360"/>
            <a:ext cx="32248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DiHiggs</a:t>
            </a:r>
            <a:r>
              <a:rPr lang="en-US" dirty="0"/>
              <a:t> mass distribution is relatively similar for both the signal MC and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overall signal efficiency is improved for the </a:t>
            </a:r>
            <a:r>
              <a:rPr lang="en-US" dirty="0" err="1"/>
              <a:t>DiHiggs</a:t>
            </a:r>
            <a:r>
              <a:rPr lang="en-US" dirty="0"/>
              <a:t> (94.7%) compared to the Single Higgs (91.3%).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9126A8-C04E-9F77-CC0F-69D8C26D7DE4}"/>
              </a:ext>
            </a:extLst>
          </p:cNvPr>
          <p:cNvSpPr txBox="1"/>
          <p:nvPr/>
        </p:nvSpPr>
        <p:spPr>
          <a:xfrm>
            <a:off x="230345" y="5779565"/>
            <a:ext cx="8683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the same amount of background, the BDT-Based selection achieves a 39.7% gain in signal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BDT-based selection works well for the </a:t>
            </a:r>
            <a:r>
              <a:rPr lang="en-US" dirty="0" err="1"/>
              <a:t>DiHiggs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9158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DE2E9-D68C-1FF2-4A16-DC7FBDDA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50455C5-A5E1-D61C-8AB2-AD9CE56E5A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DiHiggs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50455C5-A5E1-D61C-8AB2-AD9CE56E5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2975068-A6D7-C3F9-B694-53F36E719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2CDF0-0A1F-3534-FC27-12784D38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3012FD-34E8-2BCC-1379-F453D0714D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3" cy="45283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C3AF65-422C-9633-47F6-9B9E636232F2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48544-DB1C-C74D-491C-7892547E6880}"/>
              </a:ext>
            </a:extLst>
          </p:cNvPr>
          <p:cNvSpPr txBox="1"/>
          <p:nvPr/>
        </p:nvSpPr>
        <p:spPr>
          <a:xfrm>
            <a:off x="8913656" y="1176360"/>
            <a:ext cx="3224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42CA7-50FA-F497-3E83-8918956606F8}"/>
              </a:ext>
            </a:extLst>
          </p:cNvPr>
          <p:cNvSpPr txBox="1"/>
          <p:nvPr/>
        </p:nvSpPr>
        <p:spPr>
          <a:xfrm>
            <a:off x="230345" y="5779565"/>
            <a:ext cx="8683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8AB47-CF4C-C81D-E6E2-17ACC2C1282D}"/>
              </a:ext>
            </a:extLst>
          </p:cNvPr>
          <p:cNvSpPr txBox="1"/>
          <p:nvPr/>
        </p:nvSpPr>
        <p:spPr>
          <a:xfrm>
            <a:off x="1014098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</p:spTree>
    <p:extLst>
      <p:ext uri="{BB962C8B-B14F-4D97-AF65-F5344CB8AC3E}">
        <p14:creationId xmlns:p14="http://schemas.microsoft.com/office/powerpoint/2010/main" val="8365428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0502D-1BEF-B06B-0D57-4E19B0D7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C17E93D8-C2B6-6CF8-40D1-53B947E362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DiHiggs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C17E93D8-C2B6-6CF8-40D1-53B947E362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BC7028-DA1E-0A8E-F5D1-DCF88147C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FFE96-E106-820E-9966-86000C47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2278E0-982C-77B5-5AF1-A967862F1C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2" cy="45283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6367A6-C875-3E4E-5A4E-CDB5272B4B29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52C25E-FCE6-53FE-E3A0-25DD17AFD0BD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Similar features can be noted compared to the Single 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Note that there are fewer </a:t>
                </a:r>
                <a:r>
                  <a:rPr lang="en-US" dirty="0" err="1"/>
                  <a:t>DiHiggs</a:t>
                </a:r>
                <a:r>
                  <a:rPr lang="en-US" dirty="0"/>
                  <a:t> photon candidates in the endcap relative to the single Higgs.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52C25E-FCE6-53FE-E3A0-25DD17AFD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2585323"/>
              </a:xfrm>
              <a:prstGeom prst="rect">
                <a:avLst/>
              </a:prstGeom>
              <a:blipFill>
                <a:blip r:embed="rId5"/>
                <a:stretch>
                  <a:fillRect l="-1176" t="-976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E6A1401-23A7-E9A6-E1FC-066BAA2031FC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Again, the kinematic coverage of the BDT-based selection is better than that of the standard analysis selection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E6A1401-23A7-E9A6-E1FC-066BAA203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923330"/>
              </a:xfrm>
              <a:prstGeom prst="rect">
                <a:avLst/>
              </a:prstGeom>
              <a:blipFill>
                <a:blip r:embed="rId6"/>
                <a:stretch>
                  <a:fillRect l="-585" t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34CD96F-0E38-2CB9-4FF3-AF12D58013C5}"/>
              </a:ext>
            </a:extLst>
          </p:cNvPr>
          <p:cNvSpPr txBox="1"/>
          <p:nvPr/>
        </p:nvSpPr>
        <p:spPr>
          <a:xfrm>
            <a:off x="1014098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</p:spTree>
    <p:extLst>
      <p:ext uri="{BB962C8B-B14F-4D97-AF65-F5344CB8AC3E}">
        <p14:creationId xmlns:p14="http://schemas.microsoft.com/office/powerpoint/2010/main" val="8994499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D9794-ACB2-C077-9612-E7280AF0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10A1688D-78BA-BE9D-0946-DB6F1D7CA46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DiHiggs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10A1688D-78BA-BE9D-0946-DB6F1D7CA4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5C0EFC5-45F7-189B-ADAB-C4C9EA4D8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492C2-561A-FF84-2AE3-CF1DB367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C5D3AC-C92C-3108-AD5F-B8348CBA7C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2" cy="45283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720307-B289-0605-C446-2CEAE4F822D7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A79305-0883-56AE-5887-C581EFD4105F}"/>
              </a:ext>
            </a:extLst>
          </p:cNvPr>
          <p:cNvSpPr txBox="1"/>
          <p:nvPr/>
        </p:nvSpPr>
        <p:spPr>
          <a:xfrm>
            <a:off x="8913656" y="1176360"/>
            <a:ext cx="3224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97A027-10F7-9EBA-80DF-E013AB732A7F}"/>
              </a:ext>
            </a:extLst>
          </p:cNvPr>
          <p:cNvSpPr txBox="1"/>
          <p:nvPr/>
        </p:nvSpPr>
        <p:spPr>
          <a:xfrm>
            <a:off x="230345" y="5779565"/>
            <a:ext cx="8683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B973A-FFD2-95A0-ADC0-9518A2AA8367}"/>
              </a:ext>
            </a:extLst>
          </p:cNvPr>
          <p:cNvSpPr txBox="1"/>
          <p:nvPr/>
        </p:nvSpPr>
        <p:spPr>
          <a:xfrm>
            <a:off x="1014098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</p:spTree>
    <p:extLst>
      <p:ext uri="{BB962C8B-B14F-4D97-AF65-F5344CB8AC3E}">
        <p14:creationId xmlns:p14="http://schemas.microsoft.com/office/powerpoint/2010/main" val="29460767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87334-1E9B-A665-68BF-71F549344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6ABCB91D-0958-2BC5-5989-36FD9C75D5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DiHiggs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6ABCB91D-0958-2BC5-5989-36FD9C75D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5E404E2-E175-378A-EBD7-AA19F1C5C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2BDB7-2DD2-CB18-4A04-BAA33D84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5346B7-7639-8A64-F0A4-48C7C5B6AA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2" cy="45283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60F77C-BD84-1262-843C-76D748A61110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CE145C-66E6-6D70-74B8-E25A24B0D0EC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3161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r>
                  <a:rPr lang="en-US" dirty="0"/>
                  <a:t> distribution for the </a:t>
                </a:r>
                <a:r>
                  <a:rPr lang="en-US" dirty="0" err="1"/>
                  <a:t>DiHiggs</a:t>
                </a:r>
                <a:r>
                  <a:rPr lang="en-US" dirty="0"/>
                  <a:t> signal tends to extend to higher values than that of the single Higgs.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Due to the kinematics of having two Higgs produced, which are often back-to-back in the center of mass frame.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CE145C-66E6-6D70-74B8-E25A24B0D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3161506"/>
              </a:xfrm>
              <a:prstGeom prst="rect">
                <a:avLst/>
              </a:prstGeom>
              <a:blipFill>
                <a:blip r:embed="rId5"/>
                <a:stretch>
                  <a:fillRect l="-1176" t="-800"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3CCDA9-B8CE-5619-4E60-D3FDFF62226C}"/>
                  </a:ext>
                </a:extLst>
              </p:cNvPr>
              <p:cNvSpPr txBox="1"/>
              <p:nvPr/>
            </p:nvSpPr>
            <p:spPr>
              <a:xfrm>
                <a:off x="230345" y="5779565"/>
                <a:ext cx="8683311" cy="945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hard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r>
                  <a:rPr lang="en-US" dirty="0"/>
                  <a:t> cuts still greatly affect the signal efficiency of the SA cuts, so removing them both increases the kinematic coverage and improves the overall signal efficiency considerably.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3CCDA9-B8CE-5619-4E60-D3FDFF622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5" y="5779565"/>
                <a:ext cx="8683311" cy="945515"/>
              </a:xfrm>
              <a:prstGeom prst="rect">
                <a:avLst/>
              </a:prstGeom>
              <a:blipFill>
                <a:blip r:embed="rId6"/>
                <a:stretch>
                  <a:fillRect l="-585" t="-2667" r="-439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66C8127-1865-3416-3F5F-B8C35067E07A}"/>
              </a:ext>
            </a:extLst>
          </p:cNvPr>
          <p:cNvSpPr txBox="1"/>
          <p:nvPr/>
        </p:nvSpPr>
        <p:spPr>
          <a:xfrm>
            <a:off x="1014098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</p:spTree>
    <p:extLst>
      <p:ext uri="{BB962C8B-B14F-4D97-AF65-F5344CB8AC3E}">
        <p14:creationId xmlns:p14="http://schemas.microsoft.com/office/powerpoint/2010/main" val="4200178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FFD3-BF10-311B-AF57-6D3835BF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D1B73AE7-09A1-D836-5938-AE21FBCF4F8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DiHiggs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𝛾𝛾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D1B73AE7-09A1-D836-5938-AE21FBCF4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5CD9E34-0D6E-C72F-1FBA-567E2689D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D5706-64A5-995A-E290-03E9BB2D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7FA449-AF97-628D-F9E9-43207F6EA4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1" cy="45283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0EADC7-FEDC-C931-D70D-CD85A07243AD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A41639-60EF-CFCA-4404-C993A2C43E57}"/>
              </a:ext>
            </a:extLst>
          </p:cNvPr>
          <p:cNvSpPr txBox="1"/>
          <p:nvPr/>
        </p:nvSpPr>
        <p:spPr>
          <a:xfrm>
            <a:off x="8913656" y="1176360"/>
            <a:ext cx="3224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83B0D-D329-80E5-9EF2-9A753AE16DC1}"/>
              </a:ext>
            </a:extLst>
          </p:cNvPr>
          <p:cNvSpPr txBox="1"/>
          <p:nvPr/>
        </p:nvSpPr>
        <p:spPr>
          <a:xfrm>
            <a:off x="230345" y="5779565"/>
            <a:ext cx="8683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61DE0B-0F13-B256-3E72-1B915A362B61}"/>
              </a:ext>
            </a:extLst>
          </p:cNvPr>
          <p:cNvSpPr txBox="1"/>
          <p:nvPr/>
        </p:nvSpPr>
        <p:spPr>
          <a:xfrm>
            <a:off x="1014098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</p:spTree>
    <p:extLst>
      <p:ext uri="{BB962C8B-B14F-4D97-AF65-F5344CB8AC3E}">
        <p14:creationId xmlns:p14="http://schemas.microsoft.com/office/powerpoint/2010/main" val="21652764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9CCC2-1F12-83D7-49ED-1EFD4106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FFF3FBE-8C3D-576B-D105-7458D77AC3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 err="1"/>
                  <a:t>DiHiggs</a:t>
                </a:r>
                <a:r>
                  <a:rPr lang="en-US" dirty="0"/>
                  <a:t> Diphoton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5FFF3FBE-8C3D-576B-D105-7458D77AC3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28F278-0D13-8229-817C-378E4B7A1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0D9DA-00F0-0442-68CA-728532EB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E68096-F8C9-14AD-204E-109FE501DE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1" cy="45283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FFD190-91D5-FF65-5040-32A381CFB0C1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D4A6AA-0DC7-BEF4-0971-2000EF7F4BBC}"/>
                  </a:ext>
                </a:extLst>
              </p:cNvPr>
              <p:cNvSpPr txBox="1"/>
              <p:nvPr/>
            </p:nvSpPr>
            <p:spPr>
              <a:xfrm>
                <a:off x="8913656" y="1176360"/>
                <a:ext cx="322483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Clearly, the Diphoton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of the </a:t>
                </a:r>
                <a:r>
                  <a:rPr lang="en-US" dirty="0" err="1"/>
                  <a:t>DiHiggs</a:t>
                </a:r>
                <a:r>
                  <a:rPr lang="en-US" dirty="0"/>
                  <a:t> is quite different from that of the Single Higgs, extending to considerably higher values.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Since two Higgs are produces back-to-back, each one is more likely to have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 the data, the BDT-based selections are clearly biased towards accepting higher values of Diphoton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D4A6AA-0DC7-BEF4-0971-2000EF7F4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656" y="1176360"/>
                <a:ext cx="3224830" cy="4247317"/>
              </a:xfrm>
              <a:prstGeom prst="rect">
                <a:avLst/>
              </a:prstGeom>
              <a:blipFill>
                <a:blip r:embed="rId5"/>
                <a:stretch>
                  <a:fillRect l="-1176" t="-595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CCDBC98-21FD-00E4-826C-E38297655CEB}"/>
              </a:ext>
            </a:extLst>
          </p:cNvPr>
          <p:cNvSpPr txBox="1"/>
          <p:nvPr/>
        </p:nvSpPr>
        <p:spPr>
          <a:xfrm>
            <a:off x="230345" y="5779565"/>
            <a:ext cx="8683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E1554-FDBE-4033-534C-B073CC25889A}"/>
              </a:ext>
            </a:extLst>
          </p:cNvPr>
          <p:cNvSpPr txBox="1"/>
          <p:nvPr/>
        </p:nvSpPr>
        <p:spPr>
          <a:xfrm>
            <a:off x="1014098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</p:spTree>
    <p:extLst>
      <p:ext uri="{BB962C8B-B14F-4D97-AF65-F5344CB8AC3E}">
        <p14:creationId xmlns:p14="http://schemas.microsoft.com/office/powerpoint/2010/main" val="33089792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D414-6B23-C345-C5AC-F3351837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9ACBC0AE-24BC-4F5E-37DB-6B6068F8187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 err="1"/>
                  <a:t>DiHiggs</a:t>
                </a:r>
                <a:r>
                  <a:rPr lang="en-US" dirty="0"/>
                  <a:t> Diphoton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9ACBC0AE-24BC-4F5E-37DB-6B6068F818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8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947EA59-1B69-9F6D-013F-BBAA61AB7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0" y="1240817"/>
            <a:ext cx="4652735" cy="453874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716D0-87F9-2261-5A3E-1FE895B7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D4E361-9B9F-DDC3-E500-4E51C83092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404" y="1240816"/>
            <a:ext cx="4652731" cy="45283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F2B188-A6E2-7FEB-CB5C-C1870B982B7D}"/>
              </a:ext>
            </a:extLst>
          </p:cNvPr>
          <p:cNvSpPr txBox="1"/>
          <p:nvPr/>
        </p:nvSpPr>
        <p:spPr>
          <a:xfrm>
            <a:off x="5782782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4D8FD-1D30-8671-9873-E67A3267C449}"/>
              </a:ext>
            </a:extLst>
          </p:cNvPr>
          <p:cNvSpPr txBox="1"/>
          <p:nvPr/>
        </p:nvSpPr>
        <p:spPr>
          <a:xfrm>
            <a:off x="8913656" y="1176360"/>
            <a:ext cx="3224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2B33B1-5F78-9F63-BA8D-E888BB82AE59}"/>
              </a:ext>
            </a:extLst>
          </p:cNvPr>
          <p:cNvSpPr txBox="1"/>
          <p:nvPr/>
        </p:nvSpPr>
        <p:spPr>
          <a:xfrm>
            <a:off x="230345" y="5779565"/>
            <a:ext cx="8683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DA5320-69AE-7D4C-5FE3-46FD78362B56}"/>
              </a:ext>
            </a:extLst>
          </p:cNvPr>
          <p:cNvSpPr txBox="1"/>
          <p:nvPr/>
        </p:nvSpPr>
        <p:spPr>
          <a:xfrm>
            <a:off x="1014098" y="714695"/>
            <a:ext cx="2624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</a:rPr>
              <a:t>DiHiggs</a:t>
            </a:r>
            <a:r>
              <a:rPr lang="en-US" sz="2400" dirty="0">
                <a:solidFill>
                  <a:srgbClr val="FF0000"/>
                </a:solidFill>
              </a:rPr>
              <a:t> MC Signal</a:t>
            </a:r>
          </a:p>
        </p:txBody>
      </p:sp>
    </p:spTree>
    <p:extLst>
      <p:ext uri="{BB962C8B-B14F-4D97-AF65-F5344CB8AC3E}">
        <p14:creationId xmlns:p14="http://schemas.microsoft.com/office/powerpoint/2010/main" val="24627064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3915-FB5B-C43F-8049-EE7CB44F9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E00C33-E8BC-1FC2-DCF4-A520B36C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Offline Selection Efficiency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17D0-5F06-B2ED-DF67-6AEBE357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t>57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D7EEB63F-F003-6D17-5FE8-3AECB95C7B0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00291619"/>
                  </p:ext>
                </p:extLst>
              </p:nvPr>
            </p:nvGraphicFramePr>
            <p:xfrm>
              <a:off x="439737" y="1766294"/>
              <a:ext cx="819471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8678">
                      <a:extLst>
                        <a:ext uri="{9D8B030D-6E8A-4147-A177-3AD203B41FA5}">
                          <a16:colId xmlns:a16="http://schemas.microsoft.com/office/drawing/2014/main" val="1646354148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91111172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05431921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3348099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𝑺𝑪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Region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BDT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Efficiency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15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81.95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94.56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+15.4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0317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52.12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85.43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+63.9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108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63.63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91.63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+44.0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6135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70.53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91.27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+29.4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1021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D7EEB63F-F003-6D17-5FE8-3AECB95C7B0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00291619"/>
                  </p:ext>
                </p:extLst>
              </p:nvPr>
            </p:nvGraphicFramePr>
            <p:xfrm>
              <a:off x="439737" y="1766294"/>
              <a:ext cx="819471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8678">
                      <a:extLst>
                        <a:ext uri="{9D8B030D-6E8A-4147-A177-3AD203B41FA5}">
                          <a16:colId xmlns:a16="http://schemas.microsoft.com/office/drawing/2014/main" val="1646354148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91111172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05431921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3348099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10345" r="-300617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BDT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Efficiency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15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81.95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94.56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+15.4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0317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52.12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85.43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+63.9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108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63.63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91.63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+44.0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6135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70.53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91.27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+29.4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1021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Content Placeholder 6">
                <a:extLst>
                  <a:ext uri="{FF2B5EF4-FFF2-40B4-BE49-F238E27FC236}">
                    <a16:creationId xmlns:a16="http://schemas.microsoft.com/office/drawing/2014/main" id="{E0E708EB-8425-F218-9FC5-714DFE7408C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8890847"/>
                  </p:ext>
                </p:extLst>
              </p:nvPr>
            </p:nvGraphicFramePr>
            <p:xfrm>
              <a:off x="439737" y="4562475"/>
              <a:ext cx="819471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8678">
                      <a:extLst>
                        <a:ext uri="{9D8B030D-6E8A-4147-A177-3AD203B41FA5}">
                          <a16:colId xmlns:a16="http://schemas.microsoft.com/office/drawing/2014/main" val="1646354148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91111172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05431921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3348099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𝑺𝑪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Region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BDT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Efficiency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15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73.43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97.23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+32.4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0317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53.83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88.38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+64.2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108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57.02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89.88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+57.6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6135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67.78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94.68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+39.7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1021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Content Placeholder 6">
                <a:extLst>
                  <a:ext uri="{FF2B5EF4-FFF2-40B4-BE49-F238E27FC236}">
                    <a16:creationId xmlns:a16="http://schemas.microsoft.com/office/drawing/2014/main" id="{E0E708EB-8425-F218-9FC5-714DFE7408C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8890847"/>
                  </p:ext>
                </p:extLst>
              </p:nvPr>
            </p:nvGraphicFramePr>
            <p:xfrm>
              <a:off x="439737" y="4562475"/>
              <a:ext cx="819471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48678">
                      <a:extLst>
                        <a:ext uri="{9D8B030D-6E8A-4147-A177-3AD203B41FA5}">
                          <a16:colId xmlns:a16="http://schemas.microsoft.com/office/drawing/2014/main" val="1646354148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91111172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2054319216"/>
                        </a:ext>
                      </a:extLst>
                    </a:gridCol>
                    <a:gridCol w="2048678">
                      <a:extLst>
                        <a:ext uri="{9D8B030D-6E8A-4147-A177-3AD203B41FA5}">
                          <a16:colId xmlns:a16="http://schemas.microsoft.com/office/drawing/2014/main" val="3348099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6897" r="-300617" b="-4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BDT Efficiency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Efficiency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915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73.43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97.23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+32.4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0317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53.83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88.38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+64.2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108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57.02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89.88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+57.6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6135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67.78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94.68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+39.7 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1021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A2C9DE3-EA2A-FA8C-8B14-E4DE977421FD}"/>
              </a:ext>
            </a:extLst>
          </p:cNvPr>
          <p:cNvSpPr txBox="1"/>
          <p:nvPr/>
        </p:nvSpPr>
        <p:spPr>
          <a:xfrm>
            <a:off x="3352208" y="1243074"/>
            <a:ext cx="2369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Single Higgs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B76712-4707-E50F-7D83-5F9CCA79555F}"/>
              </a:ext>
            </a:extLst>
          </p:cNvPr>
          <p:cNvSpPr txBox="1"/>
          <p:nvPr/>
        </p:nvSpPr>
        <p:spPr>
          <a:xfrm>
            <a:off x="3352208" y="4039255"/>
            <a:ext cx="2369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</a:rPr>
              <a:t>DiHiggs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290B1F-A18D-EF6F-8EEE-11EF48719C68}"/>
              </a:ext>
            </a:extLst>
          </p:cNvPr>
          <p:cNvSpPr txBox="1"/>
          <p:nvPr/>
        </p:nvSpPr>
        <p:spPr>
          <a:xfrm>
            <a:off x="8634448" y="1176360"/>
            <a:ext cx="35040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Huge gains are achieved at the selection level for both the single and </a:t>
            </a:r>
            <a:r>
              <a:rPr lang="en-US" dirty="0" err="1"/>
              <a:t>DiHiggs</a:t>
            </a:r>
            <a:r>
              <a:rPr lang="en-US" dirty="0"/>
              <a:t> signal MC.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gains are largest for events where one or both photons are in the barrel, showing the increase in kinematic coverage.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selection efficiency above 90% with greatly benefit both single and </a:t>
            </a:r>
            <a:r>
              <a:rPr lang="en-US" dirty="0" err="1"/>
              <a:t>DiHiggs</a:t>
            </a:r>
            <a:r>
              <a:rPr lang="en-US" dirty="0"/>
              <a:t> analyses.</a:t>
            </a:r>
          </a:p>
        </p:txBody>
      </p:sp>
    </p:spTree>
    <p:extLst>
      <p:ext uri="{BB962C8B-B14F-4D97-AF65-F5344CB8AC3E}">
        <p14:creationId xmlns:p14="http://schemas.microsoft.com/office/powerpoint/2010/main" val="8396684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BEED-5046-629D-500F-FC31CE28F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5492D80-856D-F364-FB1A-9AEDFE3C1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06" y="29722"/>
            <a:ext cx="10521818" cy="620517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A7F01-AE85-7A89-13A7-BEC413B8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BF84D-2654-0E41-BA25-5899B97A3943}" type="slidenum">
              <a:rPr lang="en-US" smtClean="0"/>
              <a:pPr/>
              <a:t>58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66B3439-A9F7-9AD2-B5C7-1E4FEB2BB1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 new BDT-based approach has been developed to improve the HLT and offline selection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events at the CMS experiment.</a:t>
                </a:r>
              </a:p>
              <a:p>
                <a:endParaRPr lang="en-US" dirty="0"/>
              </a:p>
              <a:p>
                <a:r>
                  <a:rPr lang="en-US" dirty="0"/>
                  <a:t>The MVA-HLT is able to improve the signal efficiency of both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and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 MC samples while still cutting the rate of accepted data almost in half.</a:t>
                </a:r>
              </a:p>
              <a:p>
                <a:endParaRPr lang="en-US" dirty="0"/>
              </a:p>
              <a:p>
                <a:r>
                  <a:rPr lang="en-US" dirty="0"/>
                  <a:t>The complementary offline selection is able to improve the signal efficiency by 29% for the single Higgs and 39% for the </a:t>
                </a:r>
                <a:r>
                  <a:rPr lang="en-US" dirty="0" err="1"/>
                  <a:t>DiHiggs</a:t>
                </a:r>
                <a:r>
                  <a:rPr lang="en-US" dirty="0"/>
                  <a:t> compared to the standard analysis cuts.</a:t>
                </a:r>
              </a:p>
              <a:p>
                <a:endParaRPr lang="en-US" dirty="0"/>
              </a:p>
              <a:p>
                <a:r>
                  <a:rPr lang="en-US" dirty="0"/>
                  <a:t>Looking forward, this new HLT and offline selection may prove a vital boon to future analyses, especially those targeting rare decays that include 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𝛾𝛾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66B3439-A9F7-9AD2-B5C7-1E4FEB2BB1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0" y="1193556"/>
                <a:ext cx="12192909" cy="5634722"/>
              </a:xfrm>
              <a:blipFill>
                <a:blip r:embed="rId2"/>
                <a:stretch>
                  <a:fillRect l="-937" t="-2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86934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29D7C36-CD75-534C-A377-325EB62E439B}" vid="{ED4878C1-3752-AC47-8EDF-4F7A68F431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17152</TotalTime>
  <Words>4335</Words>
  <Application>Microsoft Macintosh PowerPoint</Application>
  <PresentationFormat>Widescreen</PresentationFormat>
  <Paragraphs>606</Paragraphs>
  <Slides>58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Aptos</vt:lpstr>
      <vt:lpstr>Arial</vt:lpstr>
      <vt:lpstr>Calibri</vt:lpstr>
      <vt:lpstr>Calibri Light</vt:lpstr>
      <vt:lpstr>Cambria Math</vt:lpstr>
      <vt:lpstr>Theme1</vt:lpstr>
      <vt:lpstr>Increasing the Trigger and Selection Efficiency for Higgs to Diphoton Signal at the CMS Experiment Using Machine Learning Techniques</vt:lpstr>
      <vt:lpstr>Overview</vt:lpstr>
      <vt:lpstr>Standard Model of Particle Physics</vt:lpstr>
      <vt:lpstr>The Brout–Englert–Higgs (BEH) Mechanism</vt:lpstr>
      <vt:lpstr>Single Higgs Boson Production Modes</vt:lpstr>
      <vt:lpstr>Single Higgs Boson Decay Modes</vt:lpstr>
      <vt:lpstr>DiHiggs Production Modes</vt:lpstr>
      <vt:lpstr>Higgs Discovery</vt:lpstr>
      <vt:lpstr>CMS Detector</vt:lpstr>
      <vt:lpstr>Triggering at CMS</vt:lpstr>
      <vt:lpstr>e/γ Event Reconstruction at CMS</vt:lpstr>
      <vt:lpstr>The Standard H→γγ HLT (sHLT)</vt:lpstr>
      <vt:lpstr>Boosted Decision Trees</vt:lpstr>
      <vt:lpstr>Development of a BDT-Based High-Level Trigger (MVA-HLT)</vt:lpstr>
      <vt:lpstr>Training Samples for a Trigger-Level Diphoton BDT</vt:lpstr>
      <vt:lpstr>Training a Trigger-Level Diphoton BDT</vt:lpstr>
      <vt:lpstr>Output Trigger-Level Score Distributions</vt:lpstr>
      <vt:lpstr>Selection of BDT Score Cuts for MVA-HLT</vt:lpstr>
      <vt:lpstr>Trigger-Level Results for  H→γγ and HH→bb ̅γγ</vt:lpstr>
      <vt:lpstr>Single Higgs M_γγ</vt:lpstr>
      <vt:lpstr>Single Higgs η_SC</vt:lpstr>
      <vt:lpstr>Single Higgs p_T/M_γγ</vt:lpstr>
      <vt:lpstr>DiHiggs M_γγ</vt:lpstr>
      <vt:lpstr>DiHiggs η_SC</vt:lpstr>
      <vt:lpstr>DiHiggs p_T/M_γγ</vt:lpstr>
      <vt:lpstr>Trigger-Level Efficiency Summary</vt:lpstr>
      <vt:lpstr>Development of a BDT-Based Offline Selection Optimized in Conjunction with the MVA-HLT</vt:lpstr>
      <vt:lpstr>Principles of the Offline Analysis</vt:lpstr>
      <vt:lpstr>Offline γ+jet BDT</vt:lpstr>
      <vt:lpstr>Single H γ+jet BDT Scores </vt:lpstr>
      <vt:lpstr>Offline Data/MC BDT</vt:lpstr>
      <vt:lpstr>Single H Data/MC BDT Scores</vt:lpstr>
      <vt:lpstr>Single Higgs Loose Single Photon BDT Cuts</vt:lpstr>
      <vt:lpstr>DiHiggs γ+jet BDT Scores </vt:lpstr>
      <vt:lpstr>DiHiggs Data/MC BDT Scores </vt:lpstr>
      <vt:lpstr>DiHiggs Loose Single Photon BDT Cuts</vt:lpstr>
      <vt:lpstr>Final Analysis Strategy – a Diphoton BDT</vt:lpstr>
      <vt:lpstr>Single H Diphoton BDT Scores </vt:lpstr>
      <vt:lpstr>DiHiggs Diphoton BDT Scores </vt:lpstr>
      <vt:lpstr>Full Offline Selection Results for H→γγ and HH→bb ̅γγ</vt:lpstr>
      <vt:lpstr>Single Higgs M_γγ</vt:lpstr>
      <vt:lpstr>Single Higgs M_γγ</vt:lpstr>
      <vt:lpstr>Single Higgs η_SC</vt:lpstr>
      <vt:lpstr>Single Higgs η_SC</vt:lpstr>
      <vt:lpstr>Single Higgs p_T/M_γγ</vt:lpstr>
      <vt:lpstr>Single Higgs p_T/M_γγ</vt:lpstr>
      <vt:lpstr>Single Higgs Diphoton p_T</vt:lpstr>
      <vt:lpstr>Single Higgs Diphoton p_T</vt:lpstr>
      <vt:lpstr>DiHiggs M_γγ</vt:lpstr>
      <vt:lpstr>DiHiggs M_γγ</vt:lpstr>
      <vt:lpstr>DiHiggs η_SC</vt:lpstr>
      <vt:lpstr>DiHiggs η_SC</vt:lpstr>
      <vt:lpstr>DiHiggs p_T/M_γγ</vt:lpstr>
      <vt:lpstr>DiHiggs p_T/M_γγ</vt:lpstr>
      <vt:lpstr>DiHiggs Diphoton p_T</vt:lpstr>
      <vt:lpstr>DiHiggs Diphoton p_T</vt:lpstr>
      <vt:lpstr>Offline Selection Efficiency Summary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Robert</dc:creator>
  <cp:lastModifiedBy>Lee, Robert</cp:lastModifiedBy>
  <cp:revision>13</cp:revision>
  <dcterms:created xsi:type="dcterms:W3CDTF">2026-08-26T23:21:44Z</dcterms:created>
  <dcterms:modified xsi:type="dcterms:W3CDTF">2026-09-07T21:14:40Z</dcterms:modified>
</cp:coreProperties>
</file>